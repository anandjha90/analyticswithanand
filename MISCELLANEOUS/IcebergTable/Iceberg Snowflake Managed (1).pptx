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521" r:id="rId2"/>
    <p:sldId id="4533" r:id="rId3"/>
    <p:sldId id="4522" r:id="rId4"/>
    <p:sldId id="4523" r:id="rId5"/>
    <p:sldId id="4524" r:id="rId6"/>
    <p:sldId id="4529" r:id="rId7"/>
    <p:sldId id="4532" r:id="rId8"/>
    <p:sldId id="4531" r:id="rId9"/>
    <p:sldId id="4525" r:id="rId10"/>
    <p:sldId id="4528" r:id="rId11"/>
    <p:sldId id="453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52"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4B2EE5-9C42-4E51-9F99-ABAB19FAE361}"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B8446520-949D-4C47-B746-C1D3E3DB21BF}">
      <dgm:prSet/>
      <dgm:spPr/>
      <dgm:t>
        <a:bodyPr/>
        <a:lstStyle/>
        <a:p>
          <a:r>
            <a:rPr lang="en-US" b="1"/>
            <a:t>Efficient External Storage Management with Snowflake Iceberg-</a:t>
          </a:r>
          <a:endParaRPr lang="en-US"/>
        </a:p>
      </dgm:t>
    </dgm:pt>
    <dgm:pt modelId="{1B27887A-0BFD-4F20-8959-3F307AB87C76}" type="parTrans" cxnId="{80E5B873-869D-448D-887B-D424D8F622C4}">
      <dgm:prSet/>
      <dgm:spPr/>
      <dgm:t>
        <a:bodyPr/>
        <a:lstStyle/>
        <a:p>
          <a:endParaRPr lang="en-US"/>
        </a:p>
      </dgm:t>
    </dgm:pt>
    <dgm:pt modelId="{8146921F-A953-4CAC-B5D5-25D89005C517}" type="sibTrans" cxnId="{80E5B873-869D-448D-887B-D424D8F622C4}">
      <dgm:prSet/>
      <dgm:spPr/>
      <dgm:t>
        <a:bodyPr/>
        <a:lstStyle/>
        <a:p>
          <a:endParaRPr lang="en-US"/>
        </a:p>
      </dgm:t>
    </dgm:pt>
    <dgm:pt modelId="{60D96E62-6CFB-4C17-A927-6490B27A6FFC}">
      <dgm:prSet/>
      <dgm:spPr/>
      <dgm:t>
        <a:bodyPr/>
        <a:lstStyle/>
        <a:p>
          <a:r>
            <a:rPr lang="en-US" dirty="0"/>
            <a:t>The Iceberg table doesn't physically store the data within Snowflake itself. Instead, the data is stored in Parquet format within your designated cloud provider storage. </a:t>
          </a:r>
        </a:p>
        <a:p>
          <a:r>
            <a:rPr lang="en-US" dirty="0"/>
            <a:t>Snowflake Iceberg manages the metadata in the cloud bucket itself, separate from the actual data. This functionality extends to all major cloud providers, including AWS, Azure, and GCP. </a:t>
          </a:r>
        </a:p>
        <a:p>
          <a:r>
            <a:rPr lang="en-US" dirty="0"/>
            <a:t>For example, when using AWS, the data would be stored in an S3 bucket. When customers run queries against the Iceberg table, Snowflake translates the query and efficiently retrieves the data from your cloud storage, whether it's an S3 bucket, Azure Blob storage, or GCP Bucket.</a:t>
          </a:r>
        </a:p>
      </dgm:t>
    </dgm:pt>
    <dgm:pt modelId="{F616CCD3-255D-4132-AD37-BC612DC19101}" type="parTrans" cxnId="{0B948C3D-F84E-431C-B8AE-84055C00D7A5}">
      <dgm:prSet/>
      <dgm:spPr/>
      <dgm:t>
        <a:bodyPr/>
        <a:lstStyle/>
        <a:p>
          <a:endParaRPr lang="en-US"/>
        </a:p>
      </dgm:t>
    </dgm:pt>
    <dgm:pt modelId="{60A797F9-49EB-4E36-A23C-2B2BE7C47778}" type="sibTrans" cxnId="{0B948C3D-F84E-431C-B8AE-84055C00D7A5}">
      <dgm:prSet/>
      <dgm:spPr/>
      <dgm:t>
        <a:bodyPr/>
        <a:lstStyle/>
        <a:p>
          <a:endParaRPr lang="en-US"/>
        </a:p>
      </dgm:t>
    </dgm:pt>
    <dgm:pt modelId="{D29FC515-298C-4895-A791-7E5B7C056028}" type="pres">
      <dgm:prSet presAssocID="{ED4B2EE5-9C42-4E51-9F99-ABAB19FAE361}" presName="Name0" presStyleCnt="0">
        <dgm:presLayoutVars>
          <dgm:dir/>
          <dgm:resizeHandles val="exact"/>
        </dgm:presLayoutVars>
      </dgm:prSet>
      <dgm:spPr/>
    </dgm:pt>
    <dgm:pt modelId="{D4776254-A52B-4556-8A7B-52638CE89F12}" type="pres">
      <dgm:prSet presAssocID="{B8446520-949D-4C47-B746-C1D3E3DB21BF}" presName="node" presStyleLbl="node1" presStyleIdx="0" presStyleCnt="2">
        <dgm:presLayoutVars>
          <dgm:bulletEnabled val="1"/>
        </dgm:presLayoutVars>
      </dgm:prSet>
      <dgm:spPr/>
    </dgm:pt>
    <dgm:pt modelId="{D48D20E1-33AA-44B3-8BB3-CB4EF36A3919}" type="pres">
      <dgm:prSet presAssocID="{8146921F-A953-4CAC-B5D5-25D89005C517}" presName="sibTrans" presStyleLbl="sibTrans2D1" presStyleIdx="0" presStyleCnt="1"/>
      <dgm:spPr/>
    </dgm:pt>
    <dgm:pt modelId="{1CC6161B-9B08-4EB7-AAAC-6FCE101FB83E}" type="pres">
      <dgm:prSet presAssocID="{8146921F-A953-4CAC-B5D5-25D89005C517}" presName="connectorText" presStyleLbl="sibTrans2D1" presStyleIdx="0" presStyleCnt="1"/>
      <dgm:spPr/>
    </dgm:pt>
    <dgm:pt modelId="{E742F46F-D1F6-4EFC-A7F5-2F26F54A3E00}" type="pres">
      <dgm:prSet presAssocID="{60D96E62-6CFB-4C17-A927-6490B27A6FFC}" presName="node" presStyleLbl="node1" presStyleIdx="1" presStyleCnt="2">
        <dgm:presLayoutVars>
          <dgm:bulletEnabled val="1"/>
        </dgm:presLayoutVars>
      </dgm:prSet>
      <dgm:spPr/>
    </dgm:pt>
  </dgm:ptLst>
  <dgm:cxnLst>
    <dgm:cxn modelId="{E18FCC12-BF48-49BA-BC9C-F593C3A23514}" type="presOf" srcId="{8146921F-A953-4CAC-B5D5-25D89005C517}" destId="{D48D20E1-33AA-44B3-8BB3-CB4EF36A3919}" srcOrd="0" destOrd="0" presId="urn:microsoft.com/office/officeart/2005/8/layout/process1"/>
    <dgm:cxn modelId="{0B948C3D-F84E-431C-B8AE-84055C00D7A5}" srcId="{ED4B2EE5-9C42-4E51-9F99-ABAB19FAE361}" destId="{60D96E62-6CFB-4C17-A927-6490B27A6FFC}" srcOrd="1" destOrd="0" parTransId="{F616CCD3-255D-4132-AD37-BC612DC19101}" sibTransId="{60A797F9-49EB-4E36-A23C-2B2BE7C47778}"/>
    <dgm:cxn modelId="{80E5B873-869D-448D-887B-D424D8F622C4}" srcId="{ED4B2EE5-9C42-4E51-9F99-ABAB19FAE361}" destId="{B8446520-949D-4C47-B746-C1D3E3DB21BF}" srcOrd="0" destOrd="0" parTransId="{1B27887A-0BFD-4F20-8959-3F307AB87C76}" sibTransId="{8146921F-A953-4CAC-B5D5-25D89005C517}"/>
    <dgm:cxn modelId="{3EED2B80-CC7B-443F-A4D3-C7C7D349CCB1}" type="presOf" srcId="{60D96E62-6CFB-4C17-A927-6490B27A6FFC}" destId="{E742F46F-D1F6-4EFC-A7F5-2F26F54A3E00}" srcOrd="0" destOrd="0" presId="urn:microsoft.com/office/officeart/2005/8/layout/process1"/>
    <dgm:cxn modelId="{B19614B6-079E-4BBE-98C9-BF00F6620745}" type="presOf" srcId="{8146921F-A953-4CAC-B5D5-25D89005C517}" destId="{1CC6161B-9B08-4EB7-AAAC-6FCE101FB83E}" srcOrd="1" destOrd="0" presId="urn:microsoft.com/office/officeart/2005/8/layout/process1"/>
    <dgm:cxn modelId="{E57E47C5-F7F8-49BD-BF5C-D81EF246BADA}" type="presOf" srcId="{ED4B2EE5-9C42-4E51-9F99-ABAB19FAE361}" destId="{D29FC515-298C-4895-A791-7E5B7C056028}" srcOrd="0" destOrd="0" presId="urn:microsoft.com/office/officeart/2005/8/layout/process1"/>
    <dgm:cxn modelId="{0DA8E1D5-025F-4100-9A69-1FAF4FD0D9FA}" type="presOf" srcId="{B8446520-949D-4C47-B746-C1D3E3DB21BF}" destId="{D4776254-A52B-4556-8A7B-52638CE89F12}" srcOrd="0" destOrd="0" presId="urn:microsoft.com/office/officeart/2005/8/layout/process1"/>
    <dgm:cxn modelId="{536E7A1C-9444-4AF2-A910-5CC6DD82BEF4}" type="presParOf" srcId="{D29FC515-298C-4895-A791-7E5B7C056028}" destId="{D4776254-A52B-4556-8A7B-52638CE89F12}" srcOrd="0" destOrd="0" presId="urn:microsoft.com/office/officeart/2005/8/layout/process1"/>
    <dgm:cxn modelId="{ECF1A39F-712C-4D0A-8BCA-B48CF2549980}" type="presParOf" srcId="{D29FC515-298C-4895-A791-7E5B7C056028}" destId="{D48D20E1-33AA-44B3-8BB3-CB4EF36A3919}" srcOrd="1" destOrd="0" presId="urn:microsoft.com/office/officeart/2005/8/layout/process1"/>
    <dgm:cxn modelId="{88B7AA57-E501-4C73-B594-FD6E51FF09AB}" type="presParOf" srcId="{D48D20E1-33AA-44B3-8BB3-CB4EF36A3919}" destId="{1CC6161B-9B08-4EB7-AAAC-6FCE101FB83E}" srcOrd="0" destOrd="0" presId="urn:microsoft.com/office/officeart/2005/8/layout/process1"/>
    <dgm:cxn modelId="{9E55C00B-D028-4E1F-8E94-886DB01A5D1F}" type="presParOf" srcId="{D29FC515-298C-4895-A791-7E5B7C056028}" destId="{E742F46F-D1F6-4EFC-A7F5-2F26F54A3E00}"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7ED533-1E3B-4D81-9FD2-143BB4967F30}" type="doc">
      <dgm:prSet loTypeId="urn:microsoft.com/office/officeart/2016/7/layout/RepeatingBendingProcessNew" loCatId="process" qsTypeId="urn:microsoft.com/office/officeart/2005/8/quickstyle/simple2" qsCatId="simple" csTypeId="urn:microsoft.com/office/officeart/2005/8/colors/colorful2" csCatId="colorful" phldr="1"/>
      <dgm:spPr/>
      <dgm:t>
        <a:bodyPr/>
        <a:lstStyle/>
        <a:p>
          <a:endParaRPr lang="en-US"/>
        </a:p>
      </dgm:t>
    </dgm:pt>
    <dgm:pt modelId="{25878D11-0471-428D-BDD7-7A9C700FDC90}">
      <dgm:prSet custT="1"/>
      <dgm:spPr/>
      <dgm:t>
        <a:bodyPr/>
        <a:lstStyle/>
        <a:p>
          <a:pPr>
            <a:lnSpc>
              <a:spcPct val="100000"/>
            </a:lnSpc>
          </a:pPr>
          <a:r>
            <a:rPr lang="en-US" sz="1600" b="1" dirty="0">
              <a:latin typeface="Times New Roman" panose="02020603050405020304" pitchFamily="18" charset="0"/>
              <a:cs typeface="Times New Roman" panose="02020603050405020304" pitchFamily="18" charset="0"/>
            </a:rPr>
            <a:t>1 :Iceberg Catalog</a:t>
          </a:r>
          <a:r>
            <a:rPr lang="en-US" sz="1600" dirty="0">
              <a:latin typeface="Times New Roman" panose="02020603050405020304" pitchFamily="18" charset="0"/>
              <a:cs typeface="Times New Roman" panose="02020603050405020304" pitchFamily="18" charset="0"/>
            </a:rPr>
            <a:t>:</a:t>
          </a:r>
          <a:r>
            <a:rPr lang="en-US" sz="1200" dirty="0"/>
            <a:t> </a:t>
          </a:r>
        </a:p>
        <a:p>
          <a:pPr>
            <a:lnSpc>
              <a:spcPct val="100000"/>
            </a:lnSpc>
          </a:pPr>
          <a:r>
            <a:rPr lang="en-US" sz="1200" dirty="0"/>
            <a:t>Catalog is responsible for storing and organizing metadata, enabling operations such as listing tables, creating or deleting tables, and tracking table versions</a:t>
          </a:r>
        </a:p>
      </dgm:t>
    </dgm:pt>
    <dgm:pt modelId="{FA258A01-3A4E-42D7-BDA8-973E174D0EB2}" type="parTrans" cxnId="{78875868-7BFB-4263-A00B-D31DC1AFDFA8}">
      <dgm:prSet/>
      <dgm:spPr/>
      <dgm:t>
        <a:bodyPr/>
        <a:lstStyle/>
        <a:p>
          <a:endParaRPr lang="en-US"/>
        </a:p>
      </dgm:t>
    </dgm:pt>
    <dgm:pt modelId="{CB711E74-9249-4547-8D39-C381F05988E3}" type="sibTrans" cxnId="{78875868-7BFB-4263-A00B-D31DC1AFDFA8}">
      <dgm:prSet/>
      <dgm:spPr/>
      <dgm:t>
        <a:bodyPr/>
        <a:lstStyle/>
        <a:p>
          <a:pPr>
            <a:lnSpc>
              <a:spcPct val="100000"/>
            </a:lnSpc>
          </a:pPr>
          <a:endParaRPr lang="en-US"/>
        </a:p>
      </dgm:t>
    </dgm:pt>
    <dgm:pt modelId="{34312CA1-8EE3-4352-815E-169FAE219AC9}">
      <dgm:prSet/>
      <dgm:spPr/>
      <dgm:t>
        <a:bodyPr/>
        <a:lstStyle/>
        <a:p>
          <a:pPr>
            <a:lnSpc>
              <a:spcPct val="100000"/>
            </a:lnSpc>
          </a:pPr>
          <a:r>
            <a:rPr lang="en-US" dirty="0"/>
            <a:t>Use Snowflake as the Iceberg catalog:</a:t>
          </a:r>
        </a:p>
      </dgm:t>
    </dgm:pt>
    <dgm:pt modelId="{B0D32ECE-92EF-419E-9BFC-FBA9DD748390}" type="parTrans" cxnId="{A14BCF79-85BD-45E0-A2F8-1C96E308FFEE}">
      <dgm:prSet/>
      <dgm:spPr/>
      <dgm:t>
        <a:bodyPr/>
        <a:lstStyle/>
        <a:p>
          <a:endParaRPr lang="en-US"/>
        </a:p>
      </dgm:t>
    </dgm:pt>
    <dgm:pt modelId="{95E57FA2-BA57-42B7-98E9-AF7A7740C0C0}" type="sibTrans" cxnId="{A14BCF79-85BD-45E0-A2F8-1C96E308FFEE}">
      <dgm:prSet/>
      <dgm:spPr/>
      <dgm:t>
        <a:bodyPr/>
        <a:lstStyle/>
        <a:p>
          <a:pPr>
            <a:lnSpc>
              <a:spcPct val="100000"/>
            </a:lnSpc>
          </a:pPr>
          <a:endParaRPr lang="en-US"/>
        </a:p>
      </dgm:t>
    </dgm:pt>
    <dgm:pt modelId="{447530E6-2791-49B6-BC9C-68565F407FFF}">
      <dgm:prSet/>
      <dgm:spPr/>
      <dgm:t>
        <a:bodyPr/>
        <a:lstStyle/>
        <a:p>
          <a:pPr>
            <a:lnSpc>
              <a:spcPct val="100000"/>
            </a:lnSpc>
          </a:pPr>
          <a:r>
            <a:rPr lang="en-US" dirty="0"/>
            <a:t>An Iceberg table that uses </a:t>
          </a:r>
          <a:r>
            <a:rPr lang="en-US" b="1" dirty="0">
              <a:solidFill>
                <a:srgbClr val="FF0000"/>
              </a:solidFill>
            </a:rPr>
            <a:t>Snowflake as the Iceberg catalog provides full Snowflake platform support with read and write access</a:t>
          </a:r>
          <a:r>
            <a:rPr lang="en-US" dirty="0"/>
            <a:t>. The table data and metadata are stored in external cloud storage, which Snowflake accesses using an external volume.</a:t>
          </a:r>
        </a:p>
      </dgm:t>
    </dgm:pt>
    <dgm:pt modelId="{86D225C1-9B22-47FB-B695-8AC924569A19}" type="parTrans" cxnId="{983EEC82-B1CD-412C-AB93-9A5AC546C4FC}">
      <dgm:prSet/>
      <dgm:spPr/>
      <dgm:t>
        <a:bodyPr/>
        <a:lstStyle/>
        <a:p>
          <a:endParaRPr lang="en-US"/>
        </a:p>
      </dgm:t>
    </dgm:pt>
    <dgm:pt modelId="{1AA89DE5-9659-4BE6-8E5D-7E6725756A29}" type="sibTrans" cxnId="{983EEC82-B1CD-412C-AB93-9A5AC546C4FC}">
      <dgm:prSet/>
      <dgm:spPr/>
      <dgm:t>
        <a:bodyPr/>
        <a:lstStyle/>
        <a:p>
          <a:pPr>
            <a:lnSpc>
              <a:spcPct val="100000"/>
            </a:lnSpc>
          </a:pPr>
          <a:endParaRPr lang="en-US"/>
        </a:p>
      </dgm:t>
    </dgm:pt>
    <dgm:pt modelId="{F12B43CA-1480-44CF-8F48-F5939658962C}">
      <dgm:prSet/>
      <dgm:spPr/>
      <dgm:t>
        <a:bodyPr/>
        <a:lstStyle/>
        <a:p>
          <a:pPr>
            <a:lnSpc>
              <a:spcPct val="100000"/>
            </a:lnSpc>
          </a:pPr>
          <a:r>
            <a:rPr lang="en-US"/>
            <a:t>Use an external catalog:</a:t>
          </a:r>
        </a:p>
      </dgm:t>
    </dgm:pt>
    <dgm:pt modelId="{E69B26D5-C2EF-486D-92F7-7D94801AC55F}" type="parTrans" cxnId="{E39A0CCE-6793-4245-9E86-CBDB55D3C83B}">
      <dgm:prSet/>
      <dgm:spPr/>
      <dgm:t>
        <a:bodyPr/>
        <a:lstStyle/>
        <a:p>
          <a:endParaRPr lang="en-US"/>
        </a:p>
      </dgm:t>
    </dgm:pt>
    <dgm:pt modelId="{BBD89A34-6943-4E5D-AAEB-49A3D534CCD7}" type="sibTrans" cxnId="{E39A0CCE-6793-4245-9E86-CBDB55D3C83B}">
      <dgm:prSet/>
      <dgm:spPr/>
      <dgm:t>
        <a:bodyPr/>
        <a:lstStyle/>
        <a:p>
          <a:pPr>
            <a:lnSpc>
              <a:spcPct val="100000"/>
            </a:lnSpc>
          </a:pPr>
          <a:endParaRPr lang="en-US"/>
        </a:p>
      </dgm:t>
    </dgm:pt>
    <dgm:pt modelId="{A83DAA60-33FA-4EDE-8275-01038DEBA7B5}">
      <dgm:prSet/>
      <dgm:spPr/>
      <dgm:t>
        <a:bodyPr/>
        <a:lstStyle/>
        <a:p>
          <a:pPr>
            <a:lnSpc>
              <a:spcPct val="100000"/>
            </a:lnSpc>
          </a:pPr>
          <a:r>
            <a:rPr lang="en-US" dirty="0">
              <a:solidFill>
                <a:srgbClr val="FF0000"/>
              </a:solidFill>
            </a:rPr>
            <a:t>An Iceberg table that uses an external catalog provides limited Snowflake platform support with read-only access</a:t>
          </a:r>
          <a:r>
            <a:rPr lang="en-US" dirty="0"/>
            <a:t>. With this table type, Snowflake uses a catalog integration to retrieve information about your Iceberg metadata and schema.</a:t>
          </a:r>
        </a:p>
      </dgm:t>
    </dgm:pt>
    <dgm:pt modelId="{935AA2F6-6EB2-4677-AFDB-2519F8F21946}" type="parTrans" cxnId="{B5E1F46C-763E-4104-A52E-299B3EF2101F}">
      <dgm:prSet/>
      <dgm:spPr/>
      <dgm:t>
        <a:bodyPr/>
        <a:lstStyle/>
        <a:p>
          <a:endParaRPr lang="en-US"/>
        </a:p>
      </dgm:t>
    </dgm:pt>
    <dgm:pt modelId="{009D3C11-54AF-4A09-B872-571D25523B34}" type="sibTrans" cxnId="{B5E1F46C-763E-4104-A52E-299B3EF2101F}">
      <dgm:prSet/>
      <dgm:spPr/>
      <dgm:t>
        <a:bodyPr/>
        <a:lstStyle/>
        <a:p>
          <a:pPr>
            <a:lnSpc>
              <a:spcPct val="100000"/>
            </a:lnSpc>
          </a:pPr>
          <a:endParaRPr lang="en-US"/>
        </a:p>
      </dgm:t>
    </dgm:pt>
    <dgm:pt modelId="{C2CDE68A-1A50-4A4A-8C73-F004E30D9961}">
      <dgm:prSet/>
      <dgm:spPr/>
      <dgm:t>
        <a:bodyPr/>
        <a:lstStyle/>
        <a:p>
          <a:pPr>
            <a:lnSpc>
              <a:spcPct val="100000"/>
            </a:lnSpc>
          </a:pPr>
          <a:r>
            <a:rPr lang="en-US"/>
            <a:t>You can use this option to create an Iceberg table registered in the AWS Glue Data Catalog or to create a table from Iceberg metadata files in object storage.</a:t>
          </a:r>
        </a:p>
      </dgm:t>
    </dgm:pt>
    <dgm:pt modelId="{28E724AF-0DB3-4470-91AE-1BD72093737E}" type="parTrans" cxnId="{68E2B678-28B7-47DF-9F8C-40A63976257E}">
      <dgm:prSet/>
      <dgm:spPr/>
      <dgm:t>
        <a:bodyPr/>
        <a:lstStyle/>
        <a:p>
          <a:endParaRPr lang="en-US"/>
        </a:p>
      </dgm:t>
    </dgm:pt>
    <dgm:pt modelId="{5F5A9D9E-D25B-4060-A70E-7F729234EB8D}" type="sibTrans" cxnId="{68E2B678-28B7-47DF-9F8C-40A63976257E}">
      <dgm:prSet/>
      <dgm:spPr/>
      <dgm:t>
        <a:bodyPr/>
        <a:lstStyle/>
        <a:p>
          <a:endParaRPr lang="en-US"/>
        </a:p>
      </dgm:t>
    </dgm:pt>
    <dgm:pt modelId="{4EB1EAA6-2C85-4E0F-BC16-7D3CE946F9A1}" type="pres">
      <dgm:prSet presAssocID="{D57ED533-1E3B-4D81-9FD2-143BB4967F30}" presName="Name0" presStyleCnt="0">
        <dgm:presLayoutVars>
          <dgm:dir/>
          <dgm:resizeHandles val="exact"/>
        </dgm:presLayoutVars>
      </dgm:prSet>
      <dgm:spPr/>
    </dgm:pt>
    <dgm:pt modelId="{A40D58F4-C610-4AF2-BC11-9940665520E3}" type="pres">
      <dgm:prSet presAssocID="{25878D11-0471-428D-BDD7-7A9C700FDC90}" presName="node" presStyleLbl="node1" presStyleIdx="0" presStyleCnt="6">
        <dgm:presLayoutVars>
          <dgm:bulletEnabled val="1"/>
        </dgm:presLayoutVars>
      </dgm:prSet>
      <dgm:spPr/>
    </dgm:pt>
    <dgm:pt modelId="{909B840D-C517-4EDE-A29C-BD6D3B7FE59A}" type="pres">
      <dgm:prSet presAssocID="{CB711E74-9249-4547-8D39-C381F05988E3}" presName="sibTrans" presStyleLbl="sibTrans1D1" presStyleIdx="0" presStyleCnt="5"/>
      <dgm:spPr/>
    </dgm:pt>
    <dgm:pt modelId="{69D9E488-C98B-4688-873C-0DF836187F50}" type="pres">
      <dgm:prSet presAssocID="{CB711E74-9249-4547-8D39-C381F05988E3}" presName="connectorText" presStyleLbl="sibTrans1D1" presStyleIdx="0" presStyleCnt="5"/>
      <dgm:spPr/>
    </dgm:pt>
    <dgm:pt modelId="{87C59D1D-B5A8-4271-B3A1-BE9D774BADB4}" type="pres">
      <dgm:prSet presAssocID="{34312CA1-8EE3-4352-815E-169FAE219AC9}" presName="node" presStyleLbl="node1" presStyleIdx="1" presStyleCnt="6">
        <dgm:presLayoutVars>
          <dgm:bulletEnabled val="1"/>
        </dgm:presLayoutVars>
      </dgm:prSet>
      <dgm:spPr/>
    </dgm:pt>
    <dgm:pt modelId="{55761A99-75BA-4194-BD45-173AE5C3F364}" type="pres">
      <dgm:prSet presAssocID="{95E57FA2-BA57-42B7-98E9-AF7A7740C0C0}" presName="sibTrans" presStyleLbl="sibTrans1D1" presStyleIdx="1" presStyleCnt="5"/>
      <dgm:spPr/>
    </dgm:pt>
    <dgm:pt modelId="{EB6E0710-D6F0-4B26-A005-071836E2BA42}" type="pres">
      <dgm:prSet presAssocID="{95E57FA2-BA57-42B7-98E9-AF7A7740C0C0}" presName="connectorText" presStyleLbl="sibTrans1D1" presStyleIdx="1" presStyleCnt="5"/>
      <dgm:spPr/>
    </dgm:pt>
    <dgm:pt modelId="{382F2E10-D81E-4B21-AC4D-FDE39EA9790E}" type="pres">
      <dgm:prSet presAssocID="{447530E6-2791-49B6-BC9C-68565F407FFF}" presName="node" presStyleLbl="node1" presStyleIdx="2" presStyleCnt="6">
        <dgm:presLayoutVars>
          <dgm:bulletEnabled val="1"/>
        </dgm:presLayoutVars>
      </dgm:prSet>
      <dgm:spPr/>
    </dgm:pt>
    <dgm:pt modelId="{4116A1A4-67DE-4FF0-A942-B77E012BFF9C}" type="pres">
      <dgm:prSet presAssocID="{1AA89DE5-9659-4BE6-8E5D-7E6725756A29}" presName="sibTrans" presStyleLbl="sibTrans1D1" presStyleIdx="2" presStyleCnt="5"/>
      <dgm:spPr/>
    </dgm:pt>
    <dgm:pt modelId="{64080843-AF0E-4084-B6CB-71470A4491EB}" type="pres">
      <dgm:prSet presAssocID="{1AA89DE5-9659-4BE6-8E5D-7E6725756A29}" presName="connectorText" presStyleLbl="sibTrans1D1" presStyleIdx="2" presStyleCnt="5"/>
      <dgm:spPr/>
    </dgm:pt>
    <dgm:pt modelId="{73A10FC9-5C58-489B-A5F6-E8AEC4373906}" type="pres">
      <dgm:prSet presAssocID="{F12B43CA-1480-44CF-8F48-F5939658962C}" presName="node" presStyleLbl="node1" presStyleIdx="3" presStyleCnt="6">
        <dgm:presLayoutVars>
          <dgm:bulletEnabled val="1"/>
        </dgm:presLayoutVars>
      </dgm:prSet>
      <dgm:spPr/>
    </dgm:pt>
    <dgm:pt modelId="{41A8D7A4-E4EC-486D-8DBC-4A074599900D}" type="pres">
      <dgm:prSet presAssocID="{BBD89A34-6943-4E5D-AAEB-49A3D534CCD7}" presName="sibTrans" presStyleLbl="sibTrans1D1" presStyleIdx="3" presStyleCnt="5"/>
      <dgm:spPr/>
    </dgm:pt>
    <dgm:pt modelId="{8A3F88AB-5DA0-4E51-BA2C-BFDEBD87A546}" type="pres">
      <dgm:prSet presAssocID="{BBD89A34-6943-4E5D-AAEB-49A3D534CCD7}" presName="connectorText" presStyleLbl="sibTrans1D1" presStyleIdx="3" presStyleCnt="5"/>
      <dgm:spPr/>
    </dgm:pt>
    <dgm:pt modelId="{00CD877F-FF36-4F8C-86C8-CA6EFDA6F8A7}" type="pres">
      <dgm:prSet presAssocID="{A83DAA60-33FA-4EDE-8275-01038DEBA7B5}" presName="node" presStyleLbl="node1" presStyleIdx="4" presStyleCnt="6">
        <dgm:presLayoutVars>
          <dgm:bulletEnabled val="1"/>
        </dgm:presLayoutVars>
      </dgm:prSet>
      <dgm:spPr/>
    </dgm:pt>
    <dgm:pt modelId="{9C4B0D27-B224-4EF6-A0E0-75CBC9146182}" type="pres">
      <dgm:prSet presAssocID="{009D3C11-54AF-4A09-B872-571D25523B34}" presName="sibTrans" presStyleLbl="sibTrans1D1" presStyleIdx="4" presStyleCnt="5"/>
      <dgm:spPr/>
    </dgm:pt>
    <dgm:pt modelId="{8FE7FA2D-5A75-41B2-A2D1-86F6A185F69A}" type="pres">
      <dgm:prSet presAssocID="{009D3C11-54AF-4A09-B872-571D25523B34}" presName="connectorText" presStyleLbl="sibTrans1D1" presStyleIdx="4" presStyleCnt="5"/>
      <dgm:spPr/>
    </dgm:pt>
    <dgm:pt modelId="{00C1A126-F34B-4EB2-9833-4A8F23DCC2DB}" type="pres">
      <dgm:prSet presAssocID="{C2CDE68A-1A50-4A4A-8C73-F004E30D9961}" presName="node" presStyleLbl="node1" presStyleIdx="5" presStyleCnt="6">
        <dgm:presLayoutVars>
          <dgm:bulletEnabled val="1"/>
        </dgm:presLayoutVars>
      </dgm:prSet>
      <dgm:spPr/>
    </dgm:pt>
  </dgm:ptLst>
  <dgm:cxnLst>
    <dgm:cxn modelId="{5D323405-E53A-4E81-8011-AF29226B9D09}" type="presOf" srcId="{34312CA1-8EE3-4352-815E-169FAE219AC9}" destId="{87C59D1D-B5A8-4271-B3A1-BE9D774BADB4}" srcOrd="0" destOrd="0" presId="urn:microsoft.com/office/officeart/2016/7/layout/RepeatingBendingProcessNew"/>
    <dgm:cxn modelId="{2897B610-C84F-44D5-A3B4-31B7AECEC434}" type="presOf" srcId="{CB711E74-9249-4547-8D39-C381F05988E3}" destId="{69D9E488-C98B-4688-873C-0DF836187F50}" srcOrd="1" destOrd="0" presId="urn:microsoft.com/office/officeart/2016/7/layout/RepeatingBendingProcessNew"/>
    <dgm:cxn modelId="{6C6BE817-F419-4601-A16E-51F8B3A63F82}" type="presOf" srcId="{1AA89DE5-9659-4BE6-8E5D-7E6725756A29}" destId="{64080843-AF0E-4084-B6CB-71470A4491EB}" srcOrd="1" destOrd="0" presId="urn:microsoft.com/office/officeart/2016/7/layout/RepeatingBendingProcessNew"/>
    <dgm:cxn modelId="{D8614A2D-2899-44AE-AFF6-EC446F0E94F6}" type="presOf" srcId="{F12B43CA-1480-44CF-8F48-F5939658962C}" destId="{73A10FC9-5C58-489B-A5F6-E8AEC4373906}" srcOrd="0" destOrd="0" presId="urn:microsoft.com/office/officeart/2016/7/layout/RepeatingBendingProcessNew"/>
    <dgm:cxn modelId="{18E81F37-491C-4B8C-9672-F7D86EAEF9E5}" type="presOf" srcId="{A83DAA60-33FA-4EDE-8275-01038DEBA7B5}" destId="{00CD877F-FF36-4F8C-86C8-CA6EFDA6F8A7}" srcOrd="0" destOrd="0" presId="urn:microsoft.com/office/officeart/2016/7/layout/RepeatingBendingProcessNew"/>
    <dgm:cxn modelId="{4160DD38-00EF-4BEC-A961-7870161F50B7}" type="presOf" srcId="{009D3C11-54AF-4A09-B872-571D25523B34}" destId="{9C4B0D27-B224-4EF6-A0E0-75CBC9146182}" srcOrd="0" destOrd="0" presId="urn:microsoft.com/office/officeart/2016/7/layout/RepeatingBendingProcessNew"/>
    <dgm:cxn modelId="{5C0A3843-ED20-4909-9905-2D8EF9C4F8AB}" type="presOf" srcId="{1AA89DE5-9659-4BE6-8E5D-7E6725756A29}" destId="{4116A1A4-67DE-4FF0-A942-B77E012BFF9C}" srcOrd="0" destOrd="0" presId="urn:microsoft.com/office/officeart/2016/7/layout/RepeatingBendingProcessNew"/>
    <dgm:cxn modelId="{1E9A7463-1E96-499F-9CB1-FE99D17976DA}" type="presOf" srcId="{CB711E74-9249-4547-8D39-C381F05988E3}" destId="{909B840D-C517-4EDE-A29C-BD6D3B7FE59A}" srcOrd="0" destOrd="0" presId="urn:microsoft.com/office/officeart/2016/7/layout/RepeatingBendingProcessNew"/>
    <dgm:cxn modelId="{3DF90267-255C-480F-BF67-72956495DF44}" type="presOf" srcId="{447530E6-2791-49B6-BC9C-68565F407FFF}" destId="{382F2E10-D81E-4B21-AC4D-FDE39EA9790E}" srcOrd="0" destOrd="0" presId="urn:microsoft.com/office/officeart/2016/7/layout/RepeatingBendingProcessNew"/>
    <dgm:cxn modelId="{78875868-7BFB-4263-A00B-D31DC1AFDFA8}" srcId="{D57ED533-1E3B-4D81-9FD2-143BB4967F30}" destId="{25878D11-0471-428D-BDD7-7A9C700FDC90}" srcOrd="0" destOrd="0" parTransId="{FA258A01-3A4E-42D7-BDA8-973E174D0EB2}" sibTransId="{CB711E74-9249-4547-8D39-C381F05988E3}"/>
    <dgm:cxn modelId="{B5E1F46C-763E-4104-A52E-299B3EF2101F}" srcId="{D57ED533-1E3B-4D81-9FD2-143BB4967F30}" destId="{A83DAA60-33FA-4EDE-8275-01038DEBA7B5}" srcOrd="4" destOrd="0" parTransId="{935AA2F6-6EB2-4677-AFDB-2519F8F21946}" sibTransId="{009D3C11-54AF-4A09-B872-571D25523B34}"/>
    <dgm:cxn modelId="{3E00766D-AD99-4ED5-AB2C-E97B7B61A541}" type="presOf" srcId="{BBD89A34-6943-4E5D-AAEB-49A3D534CCD7}" destId="{8A3F88AB-5DA0-4E51-BA2C-BFDEBD87A546}" srcOrd="1" destOrd="0" presId="urn:microsoft.com/office/officeart/2016/7/layout/RepeatingBendingProcessNew"/>
    <dgm:cxn modelId="{68E2B678-28B7-47DF-9F8C-40A63976257E}" srcId="{D57ED533-1E3B-4D81-9FD2-143BB4967F30}" destId="{C2CDE68A-1A50-4A4A-8C73-F004E30D9961}" srcOrd="5" destOrd="0" parTransId="{28E724AF-0DB3-4470-91AE-1BD72093737E}" sibTransId="{5F5A9D9E-D25B-4060-A70E-7F729234EB8D}"/>
    <dgm:cxn modelId="{A14BCF79-85BD-45E0-A2F8-1C96E308FFEE}" srcId="{D57ED533-1E3B-4D81-9FD2-143BB4967F30}" destId="{34312CA1-8EE3-4352-815E-169FAE219AC9}" srcOrd="1" destOrd="0" parTransId="{B0D32ECE-92EF-419E-9BFC-FBA9DD748390}" sibTransId="{95E57FA2-BA57-42B7-98E9-AF7A7740C0C0}"/>
    <dgm:cxn modelId="{983EEC82-B1CD-412C-AB93-9A5AC546C4FC}" srcId="{D57ED533-1E3B-4D81-9FD2-143BB4967F30}" destId="{447530E6-2791-49B6-BC9C-68565F407FFF}" srcOrd="2" destOrd="0" parTransId="{86D225C1-9B22-47FB-B695-8AC924569A19}" sibTransId="{1AA89DE5-9659-4BE6-8E5D-7E6725756A29}"/>
    <dgm:cxn modelId="{3F8B248A-5692-4E1A-A52A-AE8056AC83D0}" type="presOf" srcId="{25878D11-0471-428D-BDD7-7A9C700FDC90}" destId="{A40D58F4-C610-4AF2-BC11-9940665520E3}" srcOrd="0" destOrd="0" presId="urn:microsoft.com/office/officeart/2016/7/layout/RepeatingBendingProcessNew"/>
    <dgm:cxn modelId="{D7D8C89C-7FDA-4262-B478-77D23547D42C}" type="presOf" srcId="{95E57FA2-BA57-42B7-98E9-AF7A7740C0C0}" destId="{55761A99-75BA-4194-BD45-173AE5C3F364}" srcOrd="0" destOrd="0" presId="urn:microsoft.com/office/officeart/2016/7/layout/RepeatingBendingProcessNew"/>
    <dgm:cxn modelId="{1DB952CD-7A0E-4119-8CB5-BCEA89B68702}" type="presOf" srcId="{95E57FA2-BA57-42B7-98E9-AF7A7740C0C0}" destId="{EB6E0710-D6F0-4B26-A005-071836E2BA42}" srcOrd="1" destOrd="0" presId="urn:microsoft.com/office/officeart/2016/7/layout/RepeatingBendingProcessNew"/>
    <dgm:cxn modelId="{E39A0CCE-6793-4245-9E86-CBDB55D3C83B}" srcId="{D57ED533-1E3B-4D81-9FD2-143BB4967F30}" destId="{F12B43CA-1480-44CF-8F48-F5939658962C}" srcOrd="3" destOrd="0" parTransId="{E69B26D5-C2EF-486D-92F7-7D94801AC55F}" sibTransId="{BBD89A34-6943-4E5D-AAEB-49A3D534CCD7}"/>
    <dgm:cxn modelId="{15E4B5CF-F246-4467-A636-CECAE5F7959A}" type="presOf" srcId="{009D3C11-54AF-4A09-B872-571D25523B34}" destId="{8FE7FA2D-5A75-41B2-A2D1-86F6A185F69A}" srcOrd="1" destOrd="0" presId="urn:microsoft.com/office/officeart/2016/7/layout/RepeatingBendingProcessNew"/>
    <dgm:cxn modelId="{FA371ED6-D9B3-4447-BE12-655A3700B578}" type="presOf" srcId="{D57ED533-1E3B-4D81-9FD2-143BB4967F30}" destId="{4EB1EAA6-2C85-4E0F-BC16-7D3CE946F9A1}" srcOrd="0" destOrd="0" presId="urn:microsoft.com/office/officeart/2016/7/layout/RepeatingBendingProcessNew"/>
    <dgm:cxn modelId="{951EB2E3-67A7-48E3-99DC-97F145F16AA3}" type="presOf" srcId="{C2CDE68A-1A50-4A4A-8C73-F004E30D9961}" destId="{00C1A126-F34B-4EB2-9833-4A8F23DCC2DB}" srcOrd="0" destOrd="0" presId="urn:microsoft.com/office/officeart/2016/7/layout/RepeatingBendingProcessNew"/>
    <dgm:cxn modelId="{D727D7E3-0F7D-44D3-B54F-574534FCEC20}" type="presOf" srcId="{BBD89A34-6943-4E5D-AAEB-49A3D534CCD7}" destId="{41A8D7A4-E4EC-486D-8DBC-4A074599900D}" srcOrd="0" destOrd="0" presId="urn:microsoft.com/office/officeart/2016/7/layout/RepeatingBendingProcessNew"/>
    <dgm:cxn modelId="{443C130D-FF0B-4AE6-9B87-3452574139B2}" type="presParOf" srcId="{4EB1EAA6-2C85-4E0F-BC16-7D3CE946F9A1}" destId="{A40D58F4-C610-4AF2-BC11-9940665520E3}" srcOrd="0" destOrd="0" presId="urn:microsoft.com/office/officeart/2016/7/layout/RepeatingBendingProcessNew"/>
    <dgm:cxn modelId="{06D3D3A3-0CD5-4AD7-8F82-5531BF1BF32E}" type="presParOf" srcId="{4EB1EAA6-2C85-4E0F-BC16-7D3CE946F9A1}" destId="{909B840D-C517-4EDE-A29C-BD6D3B7FE59A}" srcOrd="1" destOrd="0" presId="urn:microsoft.com/office/officeart/2016/7/layout/RepeatingBendingProcessNew"/>
    <dgm:cxn modelId="{A401CBD9-0E47-4776-8C2E-73BCE894AD17}" type="presParOf" srcId="{909B840D-C517-4EDE-A29C-BD6D3B7FE59A}" destId="{69D9E488-C98B-4688-873C-0DF836187F50}" srcOrd="0" destOrd="0" presId="urn:microsoft.com/office/officeart/2016/7/layout/RepeatingBendingProcessNew"/>
    <dgm:cxn modelId="{A0E0CB0C-6300-4240-9FBB-B5AC7BFDBCB2}" type="presParOf" srcId="{4EB1EAA6-2C85-4E0F-BC16-7D3CE946F9A1}" destId="{87C59D1D-B5A8-4271-B3A1-BE9D774BADB4}" srcOrd="2" destOrd="0" presId="urn:microsoft.com/office/officeart/2016/7/layout/RepeatingBendingProcessNew"/>
    <dgm:cxn modelId="{C2EC83F2-0DB4-4F78-9F74-BE3233195420}" type="presParOf" srcId="{4EB1EAA6-2C85-4E0F-BC16-7D3CE946F9A1}" destId="{55761A99-75BA-4194-BD45-173AE5C3F364}" srcOrd="3" destOrd="0" presId="urn:microsoft.com/office/officeart/2016/7/layout/RepeatingBendingProcessNew"/>
    <dgm:cxn modelId="{0933DA0E-6F60-4503-B8C7-FD9619480ED2}" type="presParOf" srcId="{55761A99-75BA-4194-BD45-173AE5C3F364}" destId="{EB6E0710-D6F0-4B26-A005-071836E2BA42}" srcOrd="0" destOrd="0" presId="urn:microsoft.com/office/officeart/2016/7/layout/RepeatingBendingProcessNew"/>
    <dgm:cxn modelId="{D3CC36CB-DCAF-4BF1-B7C0-1DD74CD98E7E}" type="presParOf" srcId="{4EB1EAA6-2C85-4E0F-BC16-7D3CE946F9A1}" destId="{382F2E10-D81E-4B21-AC4D-FDE39EA9790E}" srcOrd="4" destOrd="0" presId="urn:microsoft.com/office/officeart/2016/7/layout/RepeatingBendingProcessNew"/>
    <dgm:cxn modelId="{1726931A-ADF3-452A-A55C-0202031028F2}" type="presParOf" srcId="{4EB1EAA6-2C85-4E0F-BC16-7D3CE946F9A1}" destId="{4116A1A4-67DE-4FF0-A942-B77E012BFF9C}" srcOrd="5" destOrd="0" presId="urn:microsoft.com/office/officeart/2016/7/layout/RepeatingBendingProcessNew"/>
    <dgm:cxn modelId="{EE744A61-1651-4CD8-83ED-42FA33FBA7E4}" type="presParOf" srcId="{4116A1A4-67DE-4FF0-A942-B77E012BFF9C}" destId="{64080843-AF0E-4084-B6CB-71470A4491EB}" srcOrd="0" destOrd="0" presId="urn:microsoft.com/office/officeart/2016/7/layout/RepeatingBendingProcessNew"/>
    <dgm:cxn modelId="{2153E789-6F27-45A8-BFF7-8699A832EE28}" type="presParOf" srcId="{4EB1EAA6-2C85-4E0F-BC16-7D3CE946F9A1}" destId="{73A10FC9-5C58-489B-A5F6-E8AEC4373906}" srcOrd="6" destOrd="0" presId="urn:microsoft.com/office/officeart/2016/7/layout/RepeatingBendingProcessNew"/>
    <dgm:cxn modelId="{54E47514-6B18-42BF-8044-454ADF560505}" type="presParOf" srcId="{4EB1EAA6-2C85-4E0F-BC16-7D3CE946F9A1}" destId="{41A8D7A4-E4EC-486D-8DBC-4A074599900D}" srcOrd="7" destOrd="0" presId="urn:microsoft.com/office/officeart/2016/7/layout/RepeatingBendingProcessNew"/>
    <dgm:cxn modelId="{2C5C928F-323D-47F7-918F-9059DE828FCD}" type="presParOf" srcId="{41A8D7A4-E4EC-486D-8DBC-4A074599900D}" destId="{8A3F88AB-5DA0-4E51-BA2C-BFDEBD87A546}" srcOrd="0" destOrd="0" presId="urn:microsoft.com/office/officeart/2016/7/layout/RepeatingBendingProcessNew"/>
    <dgm:cxn modelId="{CF743CB1-FD9D-4C31-A723-059B6767D919}" type="presParOf" srcId="{4EB1EAA6-2C85-4E0F-BC16-7D3CE946F9A1}" destId="{00CD877F-FF36-4F8C-86C8-CA6EFDA6F8A7}" srcOrd="8" destOrd="0" presId="urn:microsoft.com/office/officeart/2016/7/layout/RepeatingBendingProcessNew"/>
    <dgm:cxn modelId="{271FCF92-50A5-4E82-B2CF-75E37F97F3FB}" type="presParOf" srcId="{4EB1EAA6-2C85-4E0F-BC16-7D3CE946F9A1}" destId="{9C4B0D27-B224-4EF6-A0E0-75CBC9146182}" srcOrd="9" destOrd="0" presId="urn:microsoft.com/office/officeart/2016/7/layout/RepeatingBendingProcessNew"/>
    <dgm:cxn modelId="{DA9AC360-18F9-4D32-A149-739648B40C34}" type="presParOf" srcId="{9C4B0D27-B224-4EF6-A0E0-75CBC9146182}" destId="{8FE7FA2D-5A75-41B2-A2D1-86F6A185F69A}" srcOrd="0" destOrd="0" presId="urn:microsoft.com/office/officeart/2016/7/layout/RepeatingBendingProcessNew"/>
    <dgm:cxn modelId="{AACD259D-0958-4B02-895C-633787ECFFCF}" type="presParOf" srcId="{4EB1EAA6-2C85-4E0F-BC16-7D3CE946F9A1}" destId="{00C1A126-F34B-4EB2-9833-4A8F23DCC2DB}"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D4B9A8-9F66-4127-A5D3-D584439441C9}"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98AC75A9-9371-48F6-B155-E9FB19A42589}">
      <dgm:prSet custT="1"/>
      <dgm:spPr/>
      <dgm:t>
        <a:bodyPr/>
        <a:lstStyle/>
        <a:p>
          <a:r>
            <a:rPr lang="en-US" sz="1800" b="1" i="0" dirty="0">
              <a:latin typeface="Times New Roman" panose="02020603050405020304" pitchFamily="18" charset="0"/>
              <a:cs typeface="Times New Roman" panose="02020603050405020304" pitchFamily="18" charset="0"/>
            </a:rPr>
            <a:t>2) Metadata Layer</a:t>
          </a:r>
          <a:endParaRPr lang="en-US" sz="1800" dirty="0">
            <a:latin typeface="Times New Roman" panose="02020603050405020304" pitchFamily="18" charset="0"/>
            <a:cs typeface="Times New Roman" panose="02020603050405020304" pitchFamily="18" charset="0"/>
          </a:endParaRPr>
        </a:p>
      </dgm:t>
    </dgm:pt>
    <dgm:pt modelId="{47A3E364-89E9-41A9-A089-D7DEFF6144AE}" type="parTrans" cxnId="{CFE9A7CC-8E44-4516-B3C8-603623DCBE40}">
      <dgm:prSet/>
      <dgm:spPr/>
      <dgm:t>
        <a:bodyPr/>
        <a:lstStyle/>
        <a:p>
          <a:endParaRPr lang="en-US"/>
        </a:p>
      </dgm:t>
    </dgm:pt>
    <dgm:pt modelId="{252FD51E-5124-4E70-84BE-12A7D353C9A7}" type="sibTrans" cxnId="{CFE9A7CC-8E44-4516-B3C8-603623DCBE40}">
      <dgm:prSet/>
      <dgm:spPr/>
      <dgm:t>
        <a:bodyPr/>
        <a:lstStyle/>
        <a:p>
          <a:endParaRPr lang="en-US"/>
        </a:p>
      </dgm:t>
    </dgm:pt>
    <dgm:pt modelId="{DA62DA7A-24A5-4AC1-A456-B2403E3090FE}">
      <dgm:prSet/>
      <dgm:spPr/>
      <dgm:t>
        <a:bodyPr/>
        <a:lstStyle/>
        <a:p>
          <a:r>
            <a:rPr lang="en-US" b="1" i="0"/>
            <a:t>Metadata Files</a:t>
          </a:r>
          <a:r>
            <a:rPr lang="en-US" b="0" i="0"/>
            <a:t>: These files store critical information about the table, such as its schema, partitioning information, and snapshots. They also track the history of changes and the current state of the table.</a:t>
          </a:r>
          <a:endParaRPr lang="en-US"/>
        </a:p>
      </dgm:t>
    </dgm:pt>
    <dgm:pt modelId="{0D493EDD-3D70-444D-BFD6-5F271E20A822}" type="parTrans" cxnId="{E95E67D8-BE62-448D-92DA-B9289D32E043}">
      <dgm:prSet/>
      <dgm:spPr/>
      <dgm:t>
        <a:bodyPr/>
        <a:lstStyle/>
        <a:p>
          <a:endParaRPr lang="en-US"/>
        </a:p>
      </dgm:t>
    </dgm:pt>
    <dgm:pt modelId="{3FA4A03D-9889-4242-8A39-7EA5C0562323}" type="sibTrans" cxnId="{E95E67D8-BE62-448D-92DA-B9289D32E043}">
      <dgm:prSet/>
      <dgm:spPr/>
      <dgm:t>
        <a:bodyPr/>
        <a:lstStyle/>
        <a:p>
          <a:endParaRPr lang="en-US"/>
        </a:p>
      </dgm:t>
    </dgm:pt>
    <dgm:pt modelId="{1EC6240F-9BF4-40C6-88C5-56738CF2A345}">
      <dgm:prSet/>
      <dgm:spPr/>
      <dgm:t>
        <a:bodyPr/>
        <a:lstStyle/>
        <a:p>
          <a:r>
            <a:rPr lang="en-US" b="1" i="0"/>
            <a:t>Manifest Lists</a:t>
          </a:r>
          <a:r>
            <a:rPr lang="en-US" b="0" i="0"/>
            <a:t>: These lists contain pointers to manifest files and include high-level statistics and partition information, enabling efficient data access and filtering.</a:t>
          </a:r>
          <a:endParaRPr lang="en-US"/>
        </a:p>
      </dgm:t>
    </dgm:pt>
    <dgm:pt modelId="{53E311BF-EA6E-4281-8F0C-310DD4AE9201}" type="parTrans" cxnId="{647C0E8B-5C7A-4667-B4EE-5D36FA3BCD8E}">
      <dgm:prSet/>
      <dgm:spPr/>
      <dgm:t>
        <a:bodyPr/>
        <a:lstStyle/>
        <a:p>
          <a:endParaRPr lang="en-US"/>
        </a:p>
      </dgm:t>
    </dgm:pt>
    <dgm:pt modelId="{1CC7869D-8681-448A-BA84-58F071A7B94B}" type="sibTrans" cxnId="{647C0E8B-5C7A-4667-B4EE-5D36FA3BCD8E}">
      <dgm:prSet/>
      <dgm:spPr/>
      <dgm:t>
        <a:bodyPr/>
        <a:lstStyle/>
        <a:p>
          <a:endParaRPr lang="en-US"/>
        </a:p>
      </dgm:t>
    </dgm:pt>
    <dgm:pt modelId="{A2D45469-CA12-42CE-BE12-511DCEDD7062}">
      <dgm:prSet/>
      <dgm:spPr/>
      <dgm:t>
        <a:bodyPr/>
        <a:lstStyle/>
        <a:p>
          <a:r>
            <a:rPr lang="en-US" b="1" i="0"/>
            <a:t>Manifest Files</a:t>
          </a:r>
          <a:r>
            <a:rPr lang="en-US" b="0" i="0"/>
            <a:t>: These files list individual data files along with their statistics, such as record counts and column bounds. They enable fine-grained tracking and management of data at the file level​.</a:t>
          </a:r>
          <a:endParaRPr lang="en-US"/>
        </a:p>
      </dgm:t>
    </dgm:pt>
    <dgm:pt modelId="{BAFE073B-47C6-4DB1-B6B0-428313463756}" type="parTrans" cxnId="{92DCDF97-A246-4B3B-9EDE-3538F768FB97}">
      <dgm:prSet/>
      <dgm:spPr/>
      <dgm:t>
        <a:bodyPr/>
        <a:lstStyle/>
        <a:p>
          <a:endParaRPr lang="en-US"/>
        </a:p>
      </dgm:t>
    </dgm:pt>
    <dgm:pt modelId="{F00A1027-CC1B-4658-82EE-B6673668EF3C}" type="sibTrans" cxnId="{92DCDF97-A246-4B3B-9EDE-3538F768FB97}">
      <dgm:prSet/>
      <dgm:spPr/>
      <dgm:t>
        <a:bodyPr/>
        <a:lstStyle/>
        <a:p>
          <a:endParaRPr lang="en-US"/>
        </a:p>
      </dgm:t>
    </dgm:pt>
    <dgm:pt modelId="{931F64F4-F2A6-4E1D-AF50-890AE8240CB8}">
      <dgm:prSet custT="1"/>
      <dgm:spPr/>
      <dgm:t>
        <a:bodyPr/>
        <a:lstStyle/>
        <a:p>
          <a:r>
            <a:rPr lang="en-US" sz="1800" b="1" i="0" dirty="0">
              <a:latin typeface="Times New Roman" panose="02020603050405020304" pitchFamily="18" charset="0"/>
              <a:cs typeface="Times New Roman" panose="02020603050405020304" pitchFamily="18" charset="0"/>
            </a:rPr>
            <a:t>3) Data Layer</a:t>
          </a:r>
          <a:endParaRPr lang="en-US" sz="1800" dirty="0">
            <a:latin typeface="Times New Roman" panose="02020603050405020304" pitchFamily="18" charset="0"/>
            <a:cs typeface="Times New Roman" panose="02020603050405020304" pitchFamily="18" charset="0"/>
          </a:endParaRPr>
        </a:p>
      </dgm:t>
    </dgm:pt>
    <dgm:pt modelId="{A68487DE-0C8A-4607-8C89-E0C0505373DE}" type="parTrans" cxnId="{A3DE3E6D-CEB7-4B56-B008-D18F9A9419DD}">
      <dgm:prSet/>
      <dgm:spPr/>
      <dgm:t>
        <a:bodyPr/>
        <a:lstStyle/>
        <a:p>
          <a:endParaRPr lang="en-US"/>
        </a:p>
      </dgm:t>
    </dgm:pt>
    <dgm:pt modelId="{B5A3699B-4FFB-4DFF-B03D-AB98FCA38A2F}" type="sibTrans" cxnId="{A3DE3E6D-CEB7-4B56-B008-D18F9A9419DD}">
      <dgm:prSet/>
      <dgm:spPr/>
      <dgm:t>
        <a:bodyPr/>
        <a:lstStyle/>
        <a:p>
          <a:endParaRPr lang="en-US"/>
        </a:p>
      </dgm:t>
    </dgm:pt>
    <dgm:pt modelId="{8DBAE9FF-1488-4F07-83AA-0F28A34554D2}">
      <dgm:prSet/>
      <dgm:spPr/>
      <dgm:t>
        <a:bodyPr/>
        <a:lstStyle/>
        <a:p>
          <a:r>
            <a:rPr lang="en-US" b="0" i="0"/>
            <a:t>Data Layer is the foundation of Iceberg tables, holding the actual data files. The data layer is optimized for efficient querying and data management, supporting operations like partitioning, which groups similar rows together to speed up queries.</a:t>
          </a:r>
          <a:endParaRPr lang="en-US"/>
        </a:p>
      </dgm:t>
    </dgm:pt>
    <dgm:pt modelId="{DD769579-6EC2-4E65-AA3F-0E880D20ADE4}" type="parTrans" cxnId="{69A58F99-1F1D-4F9C-9A69-C5A788DF64E0}">
      <dgm:prSet/>
      <dgm:spPr/>
      <dgm:t>
        <a:bodyPr/>
        <a:lstStyle/>
        <a:p>
          <a:endParaRPr lang="en-US"/>
        </a:p>
      </dgm:t>
    </dgm:pt>
    <dgm:pt modelId="{28C81750-03E7-476A-9327-ED00CF845759}" type="sibTrans" cxnId="{69A58F99-1F1D-4F9C-9A69-C5A788DF64E0}">
      <dgm:prSet/>
      <dgm:spPr/>
      <dgm:t>
        <a:bodyPr/>
        <a:lstStyle/>
        <a:p>
          <a:endParaRPr lang="en-US"/>
        </a:p>
      </dgm:t>
    </dgm:pt>
    <dgm:pt modelId="{CF85BBB5-AECB-4FDC-BC3B-24F9D1FC0521}" type="pres">
      <dgm:prSet presAssocID="{D0D4B9A8-9F66-4127-A5D3-D584439441C9}" presName="Name0" presStyleCnt="0">
        <dgm:presLayoutVars>
          <dgm:dir/>
          <dgm:resizeHandles val="exact"/>
        </dgm:presLayoutVars>
      </dgm:prSet>
      <dgm:spPr/>
    </dgm:pt>
    <dgm:pt modelId="{CAA873DC-565F-4060-8600-500482CAF1B7}" type="pres">
      <dgm:prSet presAssocID="{98AC75A9-9371-48F6-B155-E9FB19A42589}" presName="node" presStyleLbl="node1" presStyleIdx="0" presStyleCnt="6">
        <dgm:presLayoutVars>
          <dgm:bulletEnabled val="1"/>
        </dgm:presLayoutVars>
      </dgm:prSet>
      <dgm:spPr/>
    </dgm:pt>
    <dgm:pt modelId="{5034EAAE-DA86-4E1B-B864-8D60DE7758B1}" type="pres">
      <dgm:prSet presAssocID="{252FD51E-5124-4E70-84BE-12A7D353C9A7}" presName="sibTrans" presStyleLbl="sibTrans1D1" presStyleIdx="0" presStyleCnt="5"/>
      <dgm:spPr/>
    </dgm:pt>
    <dgm:pt modelId="{26F96907-CEFC-4C48-BC76-3E8D8373BCE6}" type="pres">
      <dgm:prSet presAssocID="{252FD51E-5124-4E70-84BE-12A7D353C9A7}" presName="connectorText" presStyleLbl="sibTrans1D1" presStyleIdx="0" presStyleCnt="5"/>
      <dgm:spPr/>
    </dgm:pt>
    <dgm:pt modelId="{A01E1A69-8C34-40C8-B233-73C8CF2379B8}" type="pres">
      <dgm:prSet presAssocID="{DA62DA7A-24A5-4AC1-A456-B2403E3090FE}" presName="node" presStyleLbl="node1" presStyleIdx="1" presStyleCnt="6">
        <dgm:presLayoutVars>
          <dgm:bulletEnabled val="1"/>
        </dgm:presLayoutVars>
      </dgm:prSet>
      <dgm:spPr/>
    </dgm:pt>
    <dgm:pt modelId="{E0D88275-09FC-4A6E-B050-2976DEA01D72}" type="pres">
      <dgm:prSet presAssocID="{3FA4A03D-9889-4242-8A39-7EA5C0562323}" presName="sibTrans" presStyleLbl="sibTrans1D1" presStyleIdx="1" presStyleCnt="5"/>
      <dgm:spPr/>
    </dgm:pt>
    <dgm:pt modelId="{97B729E0-59F9-42D5-A4EF-719885253C4B}" type="pres">
      <dgm:prSet presAssocID="{3FA4A03D-9889-4242-8A39-7EA5C0562323}" presName="connectorText" presStyleLbl="sibTrans1D1" presStyleIdx="1" presStyleCnt="5"/>
      <dgm:spPr/>
    </dgm:pt>
    <dgm:pt modelId="{232774C8-0C14-492C-B582-F7B06806B2F0}" type="pres">
      <dgm:prSet presAssocID="{1EC6240F-9BF4-40C6-88C5-56738CF2A345}" presName="node" presStyleLbl="node1" presStyleIdx="2" presStyleCnt="6">
        <dgm:presLayoutVars>
          <dgm:bulletEnabled val="1"/>
        </dgm:presLayoutVars>
      </dgm:prSet>
      <dgm:spPr/>
    </dgm:pt>
    <dgm:pt modelId="{B537D3E1-9736-4E2A-B34D-6B8B3F08EBE8}" type="pres">
      <dgm:prSet presAssocID="{1CC7869D-8681-448A-BA84-58F071A7B94B}" presName="sibTrans" presStyleLbl="sibTrans1D1" presStyleIdx="2" presStyleCnt="5"/>
      <dgm:spPr/>
    </dgm:pt>
    <dgm:pt modelId="{A29CED2A-0757-4688-878F-0808640E0862}" type="pres">
      <dgm:prSet presAssocID="{1CC7869D-8681-448A-BA84-58F071A7B94B}" presName="connectorText" presStyleLbl="sibTrans1D1" presStyleIdx="2" presStyleCnt="5"/>
      <dgm:spPr/>
    </dgm:pt>
    <dgm:pt modelId="{9526F1E4-15E8-4A7A-AC8E-E4E2BC826DFF}" type="pres">
      <dgm:prSet presAssocID="{A2D45469-CA12-42CE-BE12-511DCEDD7062}" presName="node" presStyleLbl="node1" presStyleIdx="3" presStyleCnt="6">
        <dgm:presLayoutVars>
          <dgm:bulletEnabled val="1"/>
        </dgm:presLayoutVars>
      </dgm:prSet>
      <dgm:spPr/>
    </dgm:pt>
    <dgm:pt modelId="{6A1329B4-21F7-4877-B140-9D4E4A259DBA}" type="pres">
      <dgm:prSet presAssocID="{F00A1027-CC1B-4658-82EE-B6673668EF3C}" presName="sibTrans" presStyleLbl="sibTrans1D1" presStyleIdx="3" presStyleCnt="5"/>
      <dgm:spPr/>
    </dgm:pt>
    <dgm:pt modelId="{2A52594A-80B7-44AD-8DA2-30D808946984}" type="pres">
      <dgm:prSet presAssocID="{F00A1027-CC1B-4658-82EE-B6673668EF3C}" presName="connectorText" presStyleLbl="sibTrans1D1" presStyleIdx="3" presStyleCnt="5"/>
      <dgm:spPr/>
    </dgm:pt>
    <dgm:pt modelId="{2DF14D4D-8437-42E5-A0C3-85393F741BAE}" type="pres">
      <dgm:prSet presAssocID="{931F64F4-F2A6-4E1D-AF50-890AE8240CB8}" presName="node" presStyleLbl="node1" presStyleIdx="4" presStyleCnt="6">
        <dgm:presLayoutVars>
          <dgm:bulletEnabled val="1"/>
        </dgm:presLayoutVars>
      </dgm:prSet>
      <dgm:spPr/>
    </dgm:pt>
    <dgm:pt modelId="{7423EF41-9B09-40D3-9C80-542CEB6AA818}" type="pres">
      <dgm:prSet presAssocID="{B5A3699B-4FFB-4DFF-B03D-AB98FCA38A2F}" presName="sibTrans" presStyleLbl="sibTrans1D1" presStyleIdx="4" presStyleCnt="5"/>
      <dgm:spPr/>
    </dgm:pt>
    <dgm:pt modelId="{BDB560CB-752D-4463-9538-64FA63E7D3EF}" type="pres">
      <dgm:prSet presAssocID="{B5A3699B-4FFB-4DFF-B03D-AB98FCA38A2F}" presName="connectorText" presStyleLbl="sibTrans1D1" presStyleIdx="4" presStyleCnt="5"/>
      <dgm:spPr/>
    </dgm:pt>
    <dgm:pt modelId="{1118A7EB-493D-4F87-ADAF-E137D7B73F19}" type="pres">
      <dgm:prSet presAssocID="{8DBAE9FF-1488-4F07-83AA-0F28A34554D2}" presName="node" presStyleLbl="node1" presStyleIdx="5" presStyleCnt="6">
        <dgm:presLayoutVars>
          <dgm:bulletEnabled val="1"/>
        </dgm:presLayoutVars>
      </dgm:prSet>
      <dgm:spPr/>
    </dgm:pt>
  </dgm:ptLst>
  <dgm:cxnLst>
    <dgm:cxn modelId="{427FFC16-12AB-4AE6-A92A-BA98DE708754}" type="presOf" srcId="{F00A1027-CC1B-4658-82EE-B6673668EF3C}" destId="{6A1329B4-21F7-4877-B140-9D4E4A259DBA}" srcOrd="0" destOrd="0" presId="urn:microsoft.com/office/officeart/2016/7/layout/RepeatingBendingProcessNew"/>
    <dgm:cxn modelId="{EB641B1F-8510-466A-ABC4-CF7CB896A9F6}" type="presOf" srcId="{B5A3699B-4FFB-4DFF-B03D-AB98FCA38A2F}" destId="{BDB560CB-752D-4463-9538-64FA63E7D3EF}" srcOrd="1" destOrd="0" presId="urn:microsoft.com/office/officeart/2016/7/layout/RepeatingBendingProcessNew"/>
    <dgm:cxn modelId="{07FE0327-9725-4363-9E6F-3FA550CE8013}" type="presOf" srcId="{3FA4A03D-9889-4242-8A39-7EA5C0562323}" destId="{97B729E0-59F9-42D5-A4EF-719885253C4B}" srcOrd="1" destOrd="0" presId="urn:microsoft.com/office/officeart/2016/7/layout/RepeatingBendingProcessNew"/>
    <dgm:cxn modelId="{C31AAD30-DABA-4F46-9ED2-B20BE94CDD55}" type="presOf" srcId="{98AC75A9-9371-48F6-B155-E9FB19A42589}" destId="{CAA873DC-565F-4060-8600-500482CAF1B7}" srcOrd="0" destOrd="0" presId="urn:microsoft.com/office/officeart/2016/7/layout/RepeatingBendingProcessNew"/>
    <dgm:cxn modelId="{A6E05D37-5888-4648-9427-61B62EB0D42B}" type="presOf" srcId="{1EC6240F-9BF4-40C6-88C5-56738CF2A345}" destId="{232774C8-0C14-492C-B582-F7B06806B2F0}" srcOrd="0" destOrd="0" presId="urn:microsoft.com/office/officeart/2016/7/layout/RepeatingBendingProcessNew"/>
    <dgm:cxn modelId="{0999773A-F211-4B6B-8BD2-C808363A23CE}" type="presOf" srcId="{DA62DA7A-24A5-4AC1-A456-B2403E3090FE}" destId="{A01E1A69-8C34-40C8-B233-73C8CF2379B8}" srcOrd="0" destOrd="0" presId="urn:microsoft.com/office/officeart/2016/7/layout/RepeatingBendingProcessNew"/>
    <dgm:cxn modelId="{BE63DA5E-E467-42A5-8AC8-65AC6EEDE25E}" type="presOf" srcId="{931F64F4-F2A6-4E1D-AF50-890AE8240CB8}" destId="{2DF14D4D-8437-42E5-A0C3-85393F741BAE}" srcOrd="0" destOrd="0" presId="urn:microsoft.com/office/officeart/2016/7/layout/RepeatingBendingProcessNew"/>
    <dgm:cxn modelId="{A3DE3E6D-CEB7-4B56-B008-D18F9A9419DD}" srcId="{D0D4B9A8-9F66-4127-A5D3-D584439441C9}" destId="{931F64F4-F2A6-4E1D-AF50-890AE8240CB8}" srcOrd="4" destOrd="0" parTransId="{A68487DE-0C8A-4607-8C89-E0C0505373DE}" sibTransId="{B5A3699B-4FFB-4DFF-B03D-AB98FCA38A2F}"/>
    <dgm:cxn modelId="{02708054-791D-40FC-AE0C-9ACD36DBA9B6}" type="presOf" srcId="{B5A3699B-4FFB-4DFF-B03D-AB98FCA38A2F}" destId="{7423EF41-9B09-40D3-9C80-542CEB6AA818}" srcOrd="0" destOrd="0" presId="urn:microsoft.com/office/officeart/2016/7/layout/RepeatingBendingProcessNew"/>
    <dgm:cxn modelId="{9A527C7B-2B01-4AEC-8F7B-C542B53673C3}" type="presOf" srcId="{252FD51E-5124-4E70-84BE-12A7D353C9A7}" destId="{5034EAAE-DA86-4E1B-B864-8D60DE7758B1}" srcOrd="0" destOrd="0" presId="urn:microsoft.com/office/officeart/2016/7/layout/RepeatingBendingProcessNew"/>
    <dgm:cxn modelId="{ECFA288A-9F46-4624-B35C-34D25D633D81}" type="presOf" srcId="{3FA4A03D-9889-4242-8A39-7EA5C0562323}" destId="{E0D88275-09FC-4A6E-B050-2976DEA01D72}" srcOrd="0" destOrd="0" presId="urn:microsoft.com/office/officeart/2016/7/layout/RepeatingBendingProcessNew"/>
    <dgm:cxn modelId="{647C0E8B-5C7A-4667-B4EE-5D36FA3BCD8E}" srcId="{D0D4B9A8-9F66-4127-A5D3-D584439441C9}" destId="{1EC6240F-9BF4-40C6-88C5-56738CF2A345}" srcOrd="2" destOrd="0" parTransId="{53E311BF-EA6E-4281-8F0C-310DD4AE9201}" sibTransId="{1CC7869D-8681-448A-BA84-58F071A7B94B}"/>
    <dgm:cxn modelId="{5E931B8E-B25D-41EA-A31A-44E9AA8D73ED}" type="presOf" srcId="{1CC7869D-8681-448A-BA84-58F071A7B94B}" destId="{B537D3E1-9736-4E2A-B34D-6B8B3F08EBE8}" srcOrd="0" destOrd="0" presId="urn:microsoft.com/office/officeart/2016/7/layout/RepeatingBendingProcessNew"/>
    <dgm:cxn modelId="{74E6B28F-A3C3-4601-AC1E-B74820194A86}" type="presOf" srcId="{8DBAE9FF-1488-4F07-83AA-0F28A34554D2}" destId="{1118A7EB-493D-4F87-ADAF-E137D7B73F19}" srcOrd="0" destOrd="0" presId="urn:microsoft.com/office/officeart/2016/7/layout/RepeatingBendingProcessNew"/>
    <dgm:cxn modelId="{92DCDF97-A246-4B3B-9EDE-3538F768FB97}" srcId="{D0D4B9A8-9F66-4127-A5D3-D584439441C9}" destId="{A2D45469-CA12-42CE-BE12-511DCEDD7062}" srcOrd="3" destOrd="0" parTransId="{BAFE073B-47C6-4DB1-B6B0-428313463756}" sibTransId="{F00A1027-CC1B-4658-82EE-B6673668EF3C}"/>
    <dgm:cxn modelId="{69A58F99-1F1D-4F9C-9A69-C5A788DF64E0}" srcId="{D0D4B9A8-9F66-4127-A5D3-D584439441C9}" destId="{8DBAE9FF-1488-4F07-83AA-0F28A34554D2}" srcOrd="5" destOrd="0" parTransId="{DD769579-6EC2-4E65-AA3F-0E880D20ADE4}" sibTransId="{28C81750-03E7-476A-9327-ED00CF845759}"/>
    <dgm:cxn modelId="{4B6465A6-17E7-46AD-962D-63C0076F96DE}" type="presOf" srcId="{1CC7869D-8681-448A-BA84-58F071A7B94B}" destId="{A29CED2A-0757-4688-878F-0808640E0862}" srcOrd="1" destOrd="0" presId="urn:microsoft.com/office/officeart/2016/7/layout/RepeatingBendingProcessNew"/>
    <dgm:cxn modelId="{486210C6-8EE4-4E55-9089-136B24A4B36B}" type="presOf" srcId="{F00A1027-CC1B-4658-82EE-B6673668EF3C}" destId="{2A52594A-80B7-44AD-8DA2-30D808946984}" srcOrd="1" destOrd="0" presId="urn:microsoft.com/office/officeart/2016/7/layout/RepeatingBendingProcessNew"/>
    <dgm:cxn modelId="{D3A81CC9-2C9B-4D93-8D4A-B57575AC9E3C}" type="presOf" srcId="{A2D45469-CA12-42CE-BE12-511DCEDD7062}" destId="{9526F1E4-15E8-4A7A-AC8E-E4E2BC826DFF}" srcOrd="0" destOrd="0" presId="urn:microsoft.com/office/officeart/2016/7/layout/RepeatingBendingProcessNew"/>
    <dgm:cxn modelId="{5917B1CA-7089-4211-B693-A6DE41449CFD}" type="presOf" srcId="{D0D4B9A8-9F66-4127-A5D3-D584439441C9}" destId="{CF85BBB5-AECB-4FDC-BC3B-24F9D1FC0521}" srcOrd="0" destOrd="0" presId="urn:microsoft.com/office/officeart/2016/7/layout/RepeatingBendingProcessNew"/>
    <dgm:cxn modelId="{CFE9A7CC-8E44-4516-B3C8-603623DCBE40}" srcId="{D0D4B9A8-9F66-4127-A5D3-D584439441C9}" destId="{98AC75A9-9371-48F6-B155-E9FB19A42589}" srcOrd="0" destOrd="0" parTransId="{47A3E364-89E9-41A9-A089-D7DEFF6144AE}" sibTransId="{252FD51E-5124-4E70-84BE-12A7D353C9A7}"/>
    <dgm:cxn modelId="{FA9755CE-73BA-4B66-AA53-C7DDD6356613}" type="presOf" srcId="{252FD51E-5124-4E70-84BE-12A7D353C9A7}" destId="{26F96907-CEFC-4C48-BC76-3E8D8373BCE6}" srcOrd="1" destOrd="0" presId="urn:microsoft.com/office/officeart/2016/7/layout/RepeatingBendingProcessNew"/>
    <dgm:cxn modelId="{E95E67D8-BE62-448D-92DA-B9289D32E043}" srcId="{D0D4B9A8-9F66-4127-A5D3-D584439441C9}" destId="{DA62DA7A-24A5-4AC1-A456-B2403E3090FE}" srcOrd="1" destOrd="0" parTransId="{0D493EDD-3D70-444D-BFD6-5F271E20A822}" sibTransId="{3FA4A03D-9889-4242-8A39-7EA5C0562323}"/>
    <dgm:cxn modelId="{B4012902-AFBF-4B7A-9DD6-8557ABD1424A}" type="presParOf" srcId="{CF85BBB5-AECB-4FDC-BC3B-24F9D1FC0521}" destId="{CAA873DC-565F-4060-8600-500482CAF1B7}" srcOrd="0" destOrd="0" presId="urn:microsoft.com/office/officeart/2016/7/layout/RepeatingBendingProcessNew"/>
    <dgm:cxn modelId="{B4BB687D-7E59-4AC5-B9B1-0658F00BF374}" type="presParOf" srcId="{CF85BBB5-AECB-4FDC-BC3B-24F9D1FC0521}" destId="{5034EAAE-DA86-4E1B-B864-8D60DE7758B1}" srcOrd="1" destOrd="0" presId="urn:microsoft.com/office/officeart/2016/7/layout/RepeatingBendingProcessNew"/>
    <dgm:cxn modelId="{17AFC86F-63E5-4AAE-96E9-A6DF92828F99}" type="presParOf" srcId="{5034EAAE-DA86-4E1B-B864-8D60DE7758B1}" destId="{26F96907-CEFC-4C48-BC76-3E8D8373BCE6}" srcOrd="0" destOrd="0" presId="urn:microsoft.com/office/officeart/2016/7/layout/RepeatingBendingProcessNew"/>
    <dgm:cxn modelId="{EDD09531-2996-476E-9D55-AA9CE9BD4D2F}" type="presParOf" srcId="{CF85BBB5-AECB-4FDC-BC3B-24F9D1FC0521}" destId="{A01E1A69-8C34-40C8-B233-73C8CF2379B8}" srcOrd="2" destOrd="0" presId="urn:microsoft.com/office/officeart/2016/7/layout/RepeatingBendingProcessNew"/>
    <dgm:cxn modelId="{367CD7AE-F7DD-405C-91AC-1DB742BBB34D}" type="presParOf" srcId="{CF85BBB5-AECB-4FDC-BC3B-24F9D1FC0521}" destId="{E0D88275-09FC-4A6E-B050-2976DEA01D72}" srcOrd="3" destOrd="0" presId="urn:microsoft.com/office/officeart/2016/7/layout/RepeatingBendingProcessNew"/>
    <dgm:cxn modelId="{DAB79ED0-AB05-47C8-81A2-4B3B72646039}" type="presParOf" srcId="{E0D88275-09FC-4A6E-B050-2976DEA01D72}" destId="{97B729E0-59F9-42D5-A4EF-719885253C4B}" srcOrd="0" destOrd="0" presId="urn:microsoft.com/office/officeart/2016/7/layout/RepeatingBendingProcessNew"/>
    <dgm:cxn modelId="{45EB362B-101F-4141-9F53-FC5961C869B8}" type="presParOf" srcId="{CF85BBB5-AECB-4FDC-BC3B-24F9D1FC0521}" destId="{232774C8-0C14-492C-B582-F7B06806B2F0}" srcOrd="4" destOrd="0" presId="urn:microsoft.com/office/officeart/2016/7/layout/RepeatingBendingProcessNew"/>
    <dgm:cxn modelId="{4E31AA1A-56DE-469C-904F-2F16AE2FD7DC}" type="presParOf" srcId="{CF85BBB5-AECB-4FDC-BC3B-24F9D1FC0521}" destId="{B537D3E1-9736-4E2A-B34D-6B8B3F08EBE8}" srcOrd="5" destOrd="0" presId="urn:microsoft.com/office/officeart/2016/7/layout/RepeatingBendingProcessNew"/>
    <dgm:cxn modelId="{A6787B3B-3D50-4A8D-8349-26574091538B}" type="presParOf" srcId="{B537D3E1-9736-4E2A-B34D-6B8B3F08EBE8}" destId="{A29CED2A-0757-4688-878F-0808640E0862}" srcOrd="0" destOrd="0" presId="urn:microsoft.com/office/officeart/2016/7/layout/RepeatingBendingProcessNew"/>
    <dgm:cxn modelId="{9C18EC4C-AA0D-435A-A72D-D46A70A44D9F}" type="presParOf" srcId="{CF85BBB5-AECB-4FDC-BC3B-24F9D1FC0521}" destId="{9526F1E4-15E8-4A7A-AC8E-E4E2BC826DFF}" srcOrd="6" destOrd="0" presId="urn:microsoft.com/office/officeart/2016/7/layout/RepeatingBendingProcessNew"/>
    <dgm:cxn modelId="{141381DB-CF1A-4A98-86DA-3F0599E4BE22}" type="presParOf" srcId="{CF85BBB5-AECB-4FDC-BC3B-24F9D1FC0521}" destId="{6A1329B4-21F7-4877-B140-9D4E4A259DBA}" srcOrd="7" destOrd="0" presId="urn:microsoft.com/office/officeart/2016/7/layout/RepeatingBendingProcessNew"/>
    <dgm:cxn modelId="{B53D8B63-2296-4B78-AD6F-98D6748A5287}" type="presParOf" srcId="{6A1329B4-21F7-4877-B140-9D4E4A259DBA}" destId="{2A52594A-80B7-44AD-8DA2-30D808946984}" srcOrd="0" destOrd="0" presId="urn:microsoft.com/office/officeart/2016/7/layout/RepeatingBendingProcessNew"/>
    <dgm:cxn modelId="{4567CF0A-0841-4CF2-9607-9EA33D133F54}" type="presParOf" srcId="{CF85BBB5-AECB-4FDC-BC3B-24F9D1FC0521}" destId="{2DF14D4D-8437-42E5-A0C3-85393F741BAE}" srcOrd="8" destOrd="0" presId="urn:microsoft.com/office/officeart/2016/7/layout/RepeatingBendingProcessNew"/>
    <dgm:cxn modelId="{6992C50F-EA28-4141-81E7-0F786A13D906}" type="presParOf" srcId="{CF85BBB5-AECB-4FDC-BC3B-24F9D1FC0521}" destId="{7423EF41-9B09-40D3-9C80-542CEB6AA818}" srcOrd="9" destOrd="0" presId="urn:microsoft.com/office/officeart/2016/7/layout/RepeatingBendingProcessNew"/>
    <dgm:cxn modelId="{1892B679-83B7-4D8C-A933-61A8ADCCDF17}" type="presParOf" srcId="{7423EF41-9B09-40D3-9C80-542CEB6AA818}" destId="{BDB560CB-752D-4463-9538-64FA63E7D3EF}" srcOrd="0" destOrd="0" presId="urn:microsoft.com/office/officeart/2016/7/layout/RepeatingBendingProcessNew"/>
    <dgm:cxn modelId="{069A0906-CCBF-499E-976A-1F5C3543377F}" type="presParOf" srcId="{CF85BBB5-AECB-4FDC-BC3B-24F9D1FC0521}" destId="{1118A7EB-493D-4F87-ADAF-E137D7B73F19}"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776254-A52B-4556-8A7B-52638CE89F12}">
      <dsp:nvSpPr>
        <dsp:cNvPr id="0" name=""/>
        <dsp:cNvSpPr/>
      </dsp:nvSpPr>
      <dsp:spPr>
        <a:xfrm>
          <a:off x="2007" y="0"/>
          <a:ext cx="4281537" cy="23391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Efficient External Storage Management with Snowflake Iceberg-</a:t>
          </a:r>
          <a:endParaRPr lang="en-US" sz="1100" kern="1200"/>
        </a:p>
      </dsp:txBody>
      <dsp:txXfrm>
        <a:off x="70517" y="68510"/>
        <a:ext cx="4144517" cy="2202082"/>
      </dsp:txXfrm>
    </dsp:sp>
    <dsp:sp modelId="{D48D20E1-33AA-44B3-8BB3-CB4EF36A3919}">
      <dsp:nvSpPr>
        <dsp:cNvPr id="0" name=""/>
        <dsp:cNvSpPr/>
      </dsp:nvSpPr>
      <dsp:spPr>
        <a:xfrm>
          <a:off x="4711698" y="638640"/>
          <a:ext cx="907685" cy="106182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4711698" y="851004"/>
        <a:ext cx="635380" cy="637093"/>
      </dsp:txXfrm>
    </dsp:sp>
    <dsp:sp modelId="{E742F46F-D1F6-4EFC-A7F5-2F26F54A3E00}">
      <dsp:nvSpPr>
        <dsp:cNvPr id="0" name=""/>
        <dsp:cNvSpPr/>
      </dsp:nvSpPr>
      <dsp:spPr>
        <a:xfrm>
          <a:off x="5996159" y="0"/>
          <a:ext cx="4281537" cy="23391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The Iceberg table doesn't physically store the data within Snowflake itself. Instead, the data is stored in Parquet format within your designated cloud provider storage. </a:t>
          </a:r>
        </a:p>
        <a:p>
          <a:pPr marL="0" lvl="0" indent="0" algn="ctr" defTabSz="488950">
            <a:lnSpc>
              <a:spcPct val="90000"/>
            </a:lnSpc>
            <a:spcBef>
              <a:spcPct val="0"/>
            </a:spcBef>
            <a:spcAft>
              <a:spcPct val="35000"/>
            </a:spcAft>
            <a:buNone/>
          </a:pPr>
          <a:r>
            <a:rPr lang="en-US" sz="1100" kern="1200" dirty="0"/>
            <a:t>Snowflake Iceberg manages the metadata in the cloud bucket itself, separate from the actual data. This functionality extends to all major cloud providers, including AWS, Azure, and GCP. </a:t>
          </a:r>
        </a:p>
        <a:p>
          <a:pPr marL="0" lvl="0" indent="0" algn="ctr" defTabSz="488950">
            <a:lnSpc>
              <a:spcPct val="90000"/>
            </a:lnSpc>
            <a:spcBef>
              <a:spcPct val="0"/>
            </a:spcBef>
            <a:spcAft>
              <a:spcPct val="35000"/>
            </a:spcAft>
            <a:buNone/>
          </a:pPr>
          <a:r>
            <a:rPr lang="en-US" sz="1100" kern="1200" dirty="0"/>
            <a:t>For example, when using AWS, the data would be stored in an S3 bucket. When customers run queries against the Iceberg table, Snowflake translates the query and efficiently retrieves the data from your cloud storage, whether it's an S3 bucket, Azure Blob storage, or GCP Bucket.</a:t>
          </a:r>
        </a:p>
      </dsp:txBody>
      <dsp:txXfrm>
        <a:off x="6064669" y="68510"/>
        <a:ext cx="4144517" cy="22020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9B840D-C517-4EDE-A29C-BD6D3B7FE59A}">
      <dsp:nvSpPr>
        <dsp:cNvPr id="0" name=""/>
        <dsp:cNvSpPr/>
      </dsp:nvSpPr>
      <dsp:spPr>
        <a:xfrm>
          <a:off x="3040792" y="870618"/>
          <a:ext cx="667342" cy="91440"/>
        </a:xfrm>
        <a:custGeom>
          <a:avLst/>
          <a:gdLst/>
          <a:ahLst/>
          <a:cxnLst/>
          <a:rect l="0" t="0" r="0" b="0"/>
          <a:pathLst>
            <a:path>
              <a:moveTo>
                <a:pt x="0" y="45720"/>
              </a:moveTo>
              <a:lnTo>
                <a:pt x="667342"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ct val="35000"/>
            </a:spcAft>
            <a:buNone/>
          </a:pPr>
          <a:endParaRPr lang="en-US" sz="500" kern="1200"/>
        </a:p>
      </dsp:txBody>
      <dsp:txXfrm>
        <a:off x="3357014" y="912848"/>
        <a:ext cx="34897" cy="6979"/>
      </dsp:txXfrm>
    </dsp:sp>
    <dsp:sp modelId="{A40D58F4-C610-4AF2-BC11-9940665520E3}">
      <dsp:nvSpPr>
        <dsp:cNvPr id="0" name=""/>
        <dsp:cNvSpPr/>
      </dsp:nvSpPr>
      <dsp:spPr>
        <a:xfrm>
          <a:off x="8061" y="5979"/>
          <a:ext cx="3034531" cy="182071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711200">
            <a:lnSpc>
              <a:spcPct val="10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1 :Iceberg Catalog</a:t>
          </a:r>
          <a:r>
            <a:rPr lang="en-US" sz="1600" kern="1200" dirty="0">
              <a:latin typeface="Times New Roman" panose="02020603050405020304" pitchFamily="18" charset="0"/>
              <a:cs typeface="Times New Roman" panose="02020603050405020304" pitchFamily="18" charset="0"/>
            </a:rPr>
            <a:t>:</a:t>
          </a:r>
          <a:r>
            <a:rPr lang="en-US" sz="1200" kern="1200" dirty="0"/>
            <a:t> </a:t>
          </a:r>
        </a:p>
        <a:p>
          <a:pPr marL="0" lvl="0" indent="0" algn="ctr" defTabSz="711200">
            <a:lnSpc>
              <a:spcPct val="100000"/>
            </a:lnSpc>
            <a:spcBef>
              <a:spcPct val="0"/>
            </a:spcBef>
            <a:spcAft>
              <a:spcPct val="35000"/>
            </a:spcAft>
            <a:buNone/>
          </a:pPr>
          <a:r>
            <a:rPr lang="en-US" sz="1200" kern="1200" dirty="0"/>
            <a:t>Catalog is responsible for storing and organizing metadata, enabling operations such as listing tables, creating or deleting tables, and tracking table versions</a:t>
          </a:r>
        </a:p>
      </dsp:txBody>
      <dsp:txXfrm>
        <a:off x="8061" y="5979"/>
        <a:ext cx="3034531" cy="1820718"/>
      </dsp:txXfrm>
    </dsp:sp>
    <dsp:sp modelId="{55761A99-75BA-4194-BD45-173AE5C3F364}">
      <dsp:nvSpPr>
        <dsp:cNvPr id="0" name=""/>
        <dsp:cNvSpPr/>
      </dsp:nvSpPr>
      <dsp:spPr>
        <a:xfrm>
          <a:off x="6773265" y="870618"/>
          <a:ext cx="667342" cy="91440"/>
        </a:xfrm>
        <a:custGeom>
          <a:avLst/>
          <a:gdLst/>
          <a:ahLst/>
          <a:cxnLst/>
          <a:rect l="0" t="0" r="0" b="0"/>
          <a:pathLst>
            <a:path>
              <a:moveTo>
                <a:pt x="0" y="45720"/>
              </a:moveTo>
              <a:lnTo>
                <a:pt x="667342" y="45720"/>
              </a:lnTo>
            </a:path>
          </a:pathLst>
        </a:custGeom>
        <a:noFill/>
        <a:ln w="12700" cap="flat" cmpd="sng" algn="ctr">
          <a:solidFill>
            <a:schemeClr val="accent2">
              <a:hueOff val="1610903"/>
              <a:satOff val="-4623"/>
              <a:lumOff val="-740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ct val="35000"/>
            </a:spcAft>
            <a:buNone/>
          </a:pPr>
          <a:endParaRPr lang="en-US" sz="500" kern="1200"/>
        </a:p>
      </dsp:txBody>
      <dsp:txXfrm>
        <a:off x="7089488" y="912848"/>
        <a:ext cx="34897" cy="6979"/>
      </dsp:txXfrm>
    </dsp:sp>
    <dsp:sp modelId="{87C59D1D-B5A8-4271-B3A1-BE9D774BADB4}">
      <dsp:nvSpPr>
        <dsp:cNvPr id="0" name=""/>
        <dsp:cNvSpPr/>
      </dsp:nvSpPr>
      <dsp:spPr>
        <a:xfrm>
          <a:off x="3740534" y="5979"/>
          <a:ext cx="3034531" cy="1820718"/>
        </a:xfrm>
        <a:prstGeom prst="rect">
          <a:avLst/>
        </a:prstGeom>
        <a:solidFill>
          <a:schemeClr val="accent2">
            <a:hueOff val="1288723"/>
            <a:satOff val="-3699"/>
            <a:lumOff val="-5922"/>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533400">
            <a:lnSpc>
              <a:spcPct val="100000"/>
            </a:lnSpc>
            <a:spcBef>
              <a:spcPct val="0"/>
            </a:spcBef>
            <a:spcAft>
              <a:spcPct val="35000"/>
            </a:spcAft>
            <a:buNone/>
          </a:pPr>
          <a:r>
            <a:rPr lang="en-US" sz="1200" kern="1200" dirty="0"/>
            <a:t>Use Snowflake as the Iceberg catalog:</a:t>
          </a:r>
        </a:p>
      </dsp:txBody>
      <dsp:txXfrm>
        <a:off x="3740534" y="5979"/>
        <a:ext cx="3034531" cy="1820718"/>
      </dsp:txXfrm>
    </dsp:sp>
    <dsp:sp modelId="{4116A1A4-67DE-4FF0-A942-B77E012BFF9C}">
      <dsp:nvSpPr>
        <dsp:cNvPr id="0" name=""/>
        <dsp:cNvSpPr/>
      </dsp:nvSpPr>
      <dsp:spPr>
        <a:xfrm>
          <a:off x="1525326" y="1824897"/>
          <a:ext cx="7464946" cy="667342"/>
        </a:xfrm>
        <a:custGeom>
          <a:avLst/>
          <a:gdLst/>
          <a:ahLst/>
          <a:cxnLst/>
          <a:rect l="0" t="0" r="0" b="0"/>
          <a:pathLst>
            <a:path>
              <a:moveTo>
                <a:pt x="7464946" y="0"/>
              </a:moveTo>
              <a:lnTo>
                <a:pt x="7464946" y="350771"/>
              </a:lnTo>
              <a:lnTo>
                <a:pt x="0" y="350771"/>
              </a:lnTo>
              <a:lnTo>
                <a:pt x="0" y="667342"/>
              </a:lnTo>
            </a:path>
          </a:pathLst>
        </a:custGeom>
        <a:noFill/>
        <a:ln w="12700" cap="flat" cmpd="sng" algn="ctr">
          <a:solidFill>
            <a:schemeClr val="accent2">
              <a:hueOff val="3221807"/>
              <a:satOff val="-9246"/>
              <a:lumOff val="-1480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ct val="35000"/>
            </a:spcAft>
            <a:buNone/>
          </a:pPr>
          <a:endParaRPr lang="en-US" sz="500" kern="1200"/>
        </a:p>
      </dsp:txBody>
      <dsp:txXfrm>
        <a:off x="5070362" y="2155079"/>
        <a:ext cx="374875" cy="6979"/>
      </dsp:txXfrm>
    </dsp:sp>
    <dsp:sp modelId="{382F2E10-D81E-4B21-AC4D-FDE39EA9790E}">
      <dsp:nvSpPr>
        <dsp:cNvPr id="0" name=""/>
        <dsp:cNvSpPr/>
      </dsp:nvSpPr>
      <dsp:spPr>
        <a:xfrm>
          <a:off x="7473007" y="5979"/>
          <a:ext cx="3034531" cy="1820718"/>
        </a:xfrm>
        <a:prstGeom prst="rect">
          <a:avLst/>
        </a:prstGeom>
        <a:solidFill>
          <a:schemeClr val="accent2">
            <a:hueOff val="2577445"/>
            <a:satOff val="-7397"/>
            <a:lumOff val="-11844"/>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533400">
            <a:lnSpc>
              <a:spcPct val="100000"/>
            </a:lnSpc>
            <a:spcBef>
              <a:spcPct val="0"/>
            </a:spcBef>
            <a:spcAft>
              <a:spcPct val="35000"/>
            </a:spcAft>
            <a:buNone/>
          </a:pPr>
          <a:r>
            <a:rPr lang="en-US" sz="1200" kern="1200" dirty="0"/>
            <a:t>An Iceberg table that uses </a:t>
          </a:r>
          <a:r>
            <a:rPr lang="en-US" sz="1200" b="1" kern="1200" dirty="0">
              <a:solidFill>
                <a:srgbClr val="FF0000"/>
              </a:solidFill>
            </a:rPr>
            <a:t>Snowflake as the Iceberg catalog provides full Snowflake platform support with read and write access</a:t>
          </a:r>
          <a:r>
            <a:rPr lang="en-US" sz="1200" kern="1200" dirty="0"/>
            <a:t>. The table data and metadata are stored in external cloud storage, which Snowflake accesses using an external volume.</a:t>
          </a:r>
        </a:p>
      </dsp:txBody>
      <dsp:txXfrm>
        <a:off x="7473007" y="5979"/>
        <a:ext cx="3034531" cy="1820718"/>
      </dsp:txXfrm>
    </dsp:sp>
    <dsp:sp modelId="{41A8D7A4-E4EC-486D-8DBC-4A074599900D}">
      <dsp:nvSpPr>
        <dsp:cNvPr id="0" name=""/>
        <dsp:cNvSpPr/>
      </dsp:nvSpPr>
      <dsp:spPr>
        <a:xfrm>
          <a:off x="3040792" y="3389279"/>
          <a:ext cx="667342" cy="91440"/>
        </a:xfrm>
        <a:custGeom>
          <a:avLst/>
          <a:gdLst/>
          <a:ahLst/>
          <a:cxnLst/>
          <a:rect l="0" t="0" r="0" b="0"/>
          <a:pathLst>
            <a:path>
              <a:moveTo>
                <a:pt x="0" y="45720"/>
              </a:moveTo>
              <a:lnTo>
                <a:pt x="667342" y="45720"/>
              </a:lnTo>
            </a:path>
          </a:pathLst>
        </a:custGeom>
        <a:noFill/>
        <a:ln w="12700" cap="flat" cmpd="sng" algn="ctr">
          <a:solidFill>
            <a:schemeClr val="accent2">
              <a:hueOff val="4832710"/>
              <a:satOff val="-13870"/>
              <a:lumOff val="-2220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ct val="35000"/>
            </a:spcAft>
            <a:buNone/>
          </a:pPr>
          <a:endParaRPr lang="en-US" sz="500" kern="1200"/>
        </a:p>
      </dsp:txBody>
      <dsp:txXfrm>
        <a:off x="3357014" y="3431509"/>
        <a:ext cx="34897" cy="6979"/>
      </dsp:txXfrm>
    </dsp:sp>
    <dsp:sp modelId="{73A10FC9-5C58-489B-A5F6-E8AEC4373906}">
      <dsp:nvSpPr>
        <dsp:cNvPr id="0" name=""/>
        <dsp:cNvSpPr/>
      </dsp:nvSpPr>
      <dsp:spPr>
        <a:xfrm>
          <a:off x="8061" y="2524640"/>
          <a:ext cx="3034531" cy="1820718"/>
        </a:xfrm>
        <a:prstGeom prst="rect">
          <a:avLst/>
        </a:prstGeom>
        <a:solidFill>
          <a:schemeClr val="accent2">
            <a:hueOff val="3866169"/>
            <a:satOff val="-11096"/>
            <a:lumOff val="-1776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533400">
            <a:lnSpc>
              <a:spcPct val="100000"/>
            </a:lnSpc>
            <a:spcBef>
              <a:spcPct val="0"/>
            </a:spcBef>
            <a:spcAft>
              <a:spcPct val="35000"/>
            </a:spcAft>
            <a:buNone/>
          </a:pPr>
          <a:r>
            <a:rPr lang="en-US" sz="1200" kern="1200"/>
            <a:t>Use an external catalog:</a:t>
          </a:r>
        </a:p>
      </dsp:txBody>
      <dsp:txXfrm>
        <a:off x="8061" y="2524640"/>
        <a:ext cx="3034531" cy="1820718"/>
      </dsp:txXfrm>
    </dsp:sp>
    <dsp:sp modelId="{9C4B0D27-B224-4EF6-A0E0-75CBC9146182}">
      <dsp:nvSpPr>
        <dsp:cNvPr id="0" name=""/>
        <dsp:cNvSpPr/>
      </dsp:nvSpPr>
      <dsp:spPr>
        <a:xfrm>
          <a:off x="6773265" y="3389279"/>
          <a:ext cx="667342" cy="91440"/>
        </a:xfrm>
        <a:custGeom>
          <a:avLst/>
          <a:gdLst/>
          <a:ahLst/>
          <a:cxnLst/>
          <a:rect l="0" t="0" r="0" b="0"/>
          <a:pathLst>
            <a:path>
              <a:moveTo>
                <a:pt x="0" y="45720"/>
              </a:moveTo>
              <a:lnTo>
                <a:pt x="667342" y="45720"/>
              </a:lnTo>
            </a:path>
          </a:pathLst>
        </a:custGeom>
        <a:noFill/>
        <a:ln w="12700" cap="flat" cmpd="sng" algn="ctr">
          <a:solidFill>
            <a:schemeClr val="accent2">
              <a:hueOff val="6443614"/>
              <a:satOff val="-18493"/>
              <a:lumOff val="-296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ct val="35000"/>
            </a:spcAft>
            <a:buNone/>
          </a:pPr>
          <a:endParaRPr lang="en-US" sz="500" kern="1200"/>
        </a:p>
      </dsp:txBody>
      <dsp:txXfrm>
        <a:off x="7089488" y="3431509"/>
        <a:ext cx="34897" cy="6979"/>
      </dsp:txXfrm>
    </dsp:sp>
    <dsp:sp modelId="{00CD877F-FF36-4F8C-86C8-CA6EFDA6F8A7}">
      <dsp:nvSpPr>
        <dsp:cNvPr id="0" name=""/>
        <dsp:cNvSpPr/>
      </dsp:nvSpPr>
      <dsp:spPr>
        <a:xfrm>
          <a:off x="3740534" y="2524640"/>
          <a:ext cx="3034531" cy="1820718"/>
        </a:xfrm>
        <a:prstGeom prst="rect">
          <a:avLst/>
        </a:prstGeom>
        <a:solidFill>
          <a:schemeClr val="accent2">
            <a:hueOff val="5154891"/>
            <a:satOff val="-14794"/>
            <a:lumOff val="-23687"/>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533400">
            <a:lnSpc>
              <a:spcPct val="100000"/>
            </a:lnSpc>
            <a:spcBef>
              <a:spcPct val="0"/>
            </a:spcBef>
            <a:spcAft>
              <a:spcPct val="35000"/>
            </a:spcAft>
            <a:buNone/>
          </a:pPr>
          <a:r>
            <a:rPr lang="en-US" sz="1200" kern="1200" dirty="0">
              <a:solidFill>
                <a:srgbClr val="FF0000"/>
              </a:solidFill>
            </a:rPr>
            <a:t>An Iceberg table that uses an external catalog provides limited Snowflake platform support with read-only access</a:t>
          </a:r>
          <a:r>
            <a:rPr lang="en-US" sz="1200" kern="1200" dirty="0"/>
            <a:t>. With this table type, Snowflake uses a catalog integration to retrieve information about your Iceberg metadata and schema.</a:t>
          </a:r>
        </a:p>
      </dsp:txBody>
      <dsp:txXfrm>
        <a:off x="3740534" y="2524640"/>
        <a:ext cx="3034531" cy="1820718"/>
      </dsp:txXfrm>
    </dsp:sp>
    <dsp:sp modelId="{00C1A126-F34B-4EB2-9833-4A8F23DCC2DB}">
      <dsp:nvSpPr>
        <dsp:cNvPr id="0" name=""/>
        <dsp:cNvSpPr/>
      </dsp:nvSpPr>
      <dsp:spPr>
        <a:xfrm>
          <a:off x="7473007" y="2524640"/>
          <a:ext cx="3034531" cy="1820718"/>
        </a:xfrm>
        <a:prstGeom prst="rect">
          <a:avLst/>
        </a:prstGeom>
        <a:solidFill>
          <a:schemeClr val="accent2">
            <a:hueOff val="6443614"/>
            <a:satOff val="-18493"/>
            <a:lumOff val="-29609"/>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533400">
            <a:lnSpc>
              <a:spcPct val="100000"/>
            </a:lnSpc>
            <a:spcBef>
              <a:spcPct val="0"/>
            </a:spcBef>
            <a:spcAft>
              <a:spcPct val="35000"/>
            </a:spcAft>
            <a:buNone/>
          </a:pPr>
          <a:r>
            <a:rPr lang="en-US" sz="1200" kern="1200"/>
            <a:t>You can use this option to create an Iceberg table registered in the AWS Glue Data Catalog or to create a table from Iceberg metadata files in object storage.</a:t>
          </a:r>
        </a:p>
      </dsp:txBody>
      <dsp:txXfrm>
        <a:off x="7473007" y="2524640"/>
        <a:ext cx="3034531" cy="18207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34EAAE-DA86-4E1B-B864-8D60DE7758B1}">
      <dsp:nvSpPr>
        <dsp:cNvPr id="0" name=""/>
        <dsp:cNvSpPr/>
      </dsp:nvSpPr>
      <dsp:spPr>
        <a:xfrm>
          <a:off x="3323664" y="834988"/>
          <a:ext cx="643158" cy="91440"/>
        </a:xfrm>
        <a:custGeom>
          <a:avLst/>
          <a:gdLst/>
          <a:ahLst/>
          <a:cxnLst/>
          <a:rect l="0" t="0" r="0" b="0"/>
          <a:pathLst>
            <a:path>
              <a:moveTo>
                <a:pt x="0" y="45720"/>
              </a:moveTo>
              <a:lnTo>
                <a:pt x="643158"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399" y="877339"/>
        <a:ext cx="33687" cy="6737"/>
      </dsp:txXfrm>
    </dsp:sp>
    <dsp:sp modelId="{CAA873DC-565F-4060-8600-500482CAF1B7}">
      <dsp:nvSpPr>
        <dsp:cNvPr id="0" name=""/>
        <dsp:cNvSpPr/>
      </dsp:nvSpPr>
      <dsp:spPr>
        <a:xfrm>
          <a:off x="396080" y="1893"/>
          <a:ext cx="2929383" cy="175763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800100">
            <a:lnSpc>
              <a:spcPct val="90000"/>
            </a:lnSpc>
            <a:spcBef>
              <a:spcPct val="0"/>
            </a:spcBef>
            <a:spcAft>
              <a:spcPct val="35000"/>
            </a:spcAft>
            <a:buNone/>
          </a:pPr>
          <a:r>
            <a:rPr lang="en-US" sz="1800" b="1" i="0" kern="1200" dirty="0">
              <a:latin typeface="Times New Roman" panose="02020603050405020304" pitchFamily="18" charset="0"/>
              <a:cs typeface="Times New Roman" panose="02020603050405020304" pitchFamily="18" charset="0"/>
            </a:rPr>
            <a:t>2) Metadata Layer</a:t>
          </a:r>
          <a:endParaRPr lang="en-US" sz="1800" kern="1200" dirty="0">
            <a:latin typeface="Times New Roman" panose="02020603050405020304" pitchFamily="18" charset="0"/>
            <a:cs typeface="Times New Roman" panose="02020603050405020304" pitchFamily="18" charset="0"/>
          </a:endParaRPr>
        </a:p>
      </dsp:txBody>
      <dsp:txXfrm>
        <a:off x="396080" y="1893"/>
        <a:ext cx="2929383" cy="1757630"/>
      </dsp:txXfrm>
    </dsp:sp>
    <dsp:sp modelId="{E0D88275-09FC-4A6E-B050-2976DEA01D72}">
      <dsp:nvSpPr>
        <dsp:cNvPr id="0" name=""/>
        <dsp:cNvSpPr/>
      </dsp:nvSpPr>
      <dsp:spPr>
        <a:xfrm>
          <a:off x="6926806" y="834988"/>
          <a:ext cx="643158" cy="91440"/>
        </a:xfrm>
        <a:custGeom>
          <a:avLst/>
          <a:gdLst/>
          <a:ahLst/>
          <a:cxnLst/>
          <a:rect l="0" t="0" r="0" b="0"/>
          <a:pathLst>
            <a:path>
              <a:moveTo>
                <a:pt x="0" y="45720"/>
              </a:moveTo>
              <a:lnTo>
                <a:pt x="643158"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231541" y="877339"/>
        <a:ext cx="33687" cy="6737"/>
      </dsp:txXfrm>
    </dsp:sp>
    <dsp:sp modelId="{A01E1A69-8C34-40C8-B233-73C8CF2379B8}">
      <dsp:nvSpPr>
        <dsp:cNvPr id="0" name=""/>
        <dsp:cNvSpPr/>
      </dsp:nvSpPr>
      <dsp:spPr>
        <a:xfrm>
          <a:off x="3999222" y="1893"/>
          <a:ext cx="2929383" cy="1757630"/>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577850">
            <a:lnSpc>
              <a:spcPct val="90000"/>
            </a:lnSpc>
            <a:spcBef>
              <a:spcPct val="0"/>
            </a:spcBef>
            <a:spcAft>
              <a:spcPct val="35000"/>
            </a:spcAft>
            <a:buNone/>
          </a:pPr>
          <a:r>
            <a:rPr lang="en-US" sz="1300" b="1" i="0" kern="1200"/>
            <a:t>Metadata Files</a:t>
          </a:r>
          <a:r>
            <a:rPr lang="en-US" sz="1300" b="0" i="0" kern="1200"/>
            <a:t>: These files store critical information about the table, such as its schema, partitioning information, and snapshots. They also track the history of changes and the current state of the table.</a:t>
          </a:r>
          <a:endParaRPr lang="en-US" sz="1300" kern="1200"/>
        </a:p>
      </dsp:txBody>
      <dsp:txXfrm>
        <a:off x="3999222" y="1893"/>
        <a:ext cx="2929383" cy="1757630"/>
      </dsp:txXfrm>
    </dsp:sp>
    <dsp:sp modelId="{B537D3E1-9736-4E2A-B34D-6B8B3F08EBE8}">
      <dsp:nvSpPr>
        <dsp:cNvPr id="0" name=""/>
        <dsp:cNvSpPr/>
      </dsp:nvSpPr>
      <dsp:spPr>
        <a:xfrm>
          <a:off x="1860772" y="1757723"/>
          <a:ext cx="7206284" cy="643158"/>
        </a:xfrm>
        <a:custGeom>
          <a:avLst/>
          <a:gdLst/>
          <a:ahLst/>
          <a:cxnLst/>
          <a:rect l="0" t="0" r="0" b="0"/>
          <a:pathLst>
            <a:path>
              <a:moveTo>
                <a:pt x="7206284" y="0"/>
              </a:moveTo>
              <a:lnTo>
                <a:pt x="7206284" y="338679"/>
              </a:lnTo>
              <a:lnTo>
                <a:pt x="0" y="338679"/>
              </a:lnTo>
              <a:lnTo>
                <a:pt x="0" y="643158"/>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82971" y="2075933"/>
        <a:ext cx="361885" cy="6737"/>
      </dsp:txXfrm>
    </dsp:sp>
    <dsp:sp modelId="{232774C8-0C14-492C-B582-F7B06806B2F0}">
      <dsp:nvSpPr>
        <dsp:cNvPr id="0" name=""/>
        <dsp:cNvSpPr/>
      </dsp:nvSpPr>
      <dsp:spPr>
        <a:xfrm>
          <a:off x="7602364" y="1893"/>
          <a:ext cx="2929383" cy="1757630"/>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577850">
            <a:lnSpc>
              <a:spcPct val="90000"/>
            </a:lnSpc>
            <a:spcBef>
              <a:spcPct val="0"/>
            </a:spcBef>
            <a:spcAft>
              <a:spcPct val="35000"/>
            </a:spcAft>
            <a:buNone/>
          </a:pPr>
          <a:r>
            <a:rPr lang="en-US" sz="1300" b="1" i="0" kern="1200"/>
            <a:t>Manifest Lists</a:t>
          </a:r>
          <a:r>
            <a:rPr lang="en-US" sz="1300" b="0" i="0" kern="1200"/>
            <a:t>: These lists contain pointers to manifest files and include high-level statistics and partition information, enabling efficient data access and filtering.</a:t>
          </a:r>
          <a:endParaRPr lang="en-US" sz="1300" kern="1200"/>
        </a:p>
      </dsp:txBody>
      <dsp:txXfrm>
        <a:off x="7602364" y="1893"/>
        <a:ext cx="2929383" cy="1757630"/>
      </dsp:txXfrm>
    </dsp:sp>
    <dsp:sp modelId="{6A1329B4-21F7-4877-B140-9D4E4A259DBA}">
      <dsp:nvSpPr>
        <dsp:cNvPr id="0" name=""/>
        <dsp:cNvSpPr/>
      </dsp:nvSpPr>
      <dsp:spPr>
        <a:xfrm>
          <a:off x="3323664" y="3266376"/>
          <a:ext cx="643158" cy="91440"/>
        </a:xfrm>
        <a:custGeom>
          <a:avLst/>
          <a:gdLst/>
          <a:ahLst/>
          <a:cxnLst/>
          <a:rect l="0" t="0" r="0" b="0"/>
          <a:pathLst>
            <a:path>
              <a:moveTo>
                <a:pt x="0" y="45720"/>
              </a:moveTo>
              <a:lnTo>
                <a:pt x="643158"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399" y="3308728"/>
        <a:ext cx="33687" cy="6737"/>
      </dsp:txXfrm>
    </dsp:sp>
    <dsp:sp modelId="{9526F1E4-15E8-4A7A-AC8E-E4E2BC826DFF}">
      <dsp:nvSpPr>
        <dsp:cNvPr id="0" name=""/>
        <dsp:cNvSpPr/>
      </dsp:nvSpPr>
      <dsp:spPr>
        <a:xfrm>
          <a:off x="396080" y="2433281"/>
          <a:ext cx="2929383" cy="1757630"/>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577850">
            <a:lnSpc>
              <a:spcPct val="90000"/>
            </a:lnSpc>
            <a:spcBef>
              <a:spcPct val="0"/>
            </a:spcBef>
            <a:spcAft>
              <a:spcPct val="35000"/>
            </a:spcAft>
            <a:buNone/>
          </a:pPr>
          <a:r>
            <a:rPr lang="en-US" sz="1300" b="1" i="0" kern="1200"/>
            <a:t>Manifest Files</a:t>
          </a:r>
          <a:r>
            <a:rPr lang="en-US" sz="1300" b="0" i="0" kern="1200"/>
            <a:t>: These files list individual data files along with their statistics, such as record counts and column bounds. They enable fine-grained tracking and management of data at the file level​.</a:t>
          </a:r>
          <a:endParaRPr lang="en-US" sz="1300" kern="1200"/>
        </a:p>
      </dsp:txBody>
      <dsp:txXfrm>
        <a:off x="396080" y="2433281"/>
        <a:ext cx="2929383" cy="1757630"/>
      </dsp:txXfrm>
    </dsp:sp>
    <dsp:sp modelId="{7423EF41-9B09-40D3-9C80-542CEB6AA818}">
      <dsp:nvSpPr>
        <dsp:cNvPr id="0" name=""/>
        <dsp:cNvSpPr/>
      </dsp:nvSpPr>
      <dsp:spPr>
        <a:xfrm>
          <a:off x="6926806" y="3266376"/>
          <a:ext cx="643158" cy="91440"/>
        </a:xfrm>
        <a:custGeom>
          <a:avLst/>
          <a:gdLst/>
          <a:ahLst/>
          <a:cxnLst/>
          <a:rect l="0" t="0" r="0" b="0"/>
          <a:pathLst>
            <a:path>
              <a:moveTo>
                <a:pt x="0" y="45720"/>
              </a:moveTo>
              <a:lnTo>
                <a:pt x="643158"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231541" y="3308728"/>
        <a:ext cx="33687" cy="6737"/>
      </dsp:txXfrm>
    </dsp:sp>
    <dsp:sp modelId="{2DF14D4D-8437-42E5-A0C3-85393F741BAE}">
      <dsp:nvSpPr>
        <dsp:cNvPr id="0" name=""/>
        <dsp:cNvSpPr/>
      </dsp:nvSpPr>
      <dsp:spPr>
        <a:xfrm>
          <a:off x="3999222" y="2433281"/>
          <a:ext cx="2929383" cy="1757630"/>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800100">
            <a:lnSpc>
              <a:spcPct val="90000"/>
            </a:lnSpc>
            <a:spcBef>
              <a:spcPct val="0"/>
            </a:spcBef>
            <a:spcAft>
              <a:spcPct val="35000"/>
            </a:spcAft>
            <a:buNone/>
          </a:pPr>
          <a:r>
            <a:rPr lang="en-US" sz="1800" b="1" i="0" kern="1200" dirty="0">
              <a:latin typeface="Times New Roman" panose="02020603050405020304" pitchFamily="18" charset="0"/>
              <a:cs typeface="Times New Roman" panose="02020603050405020304" pitchFamily="18" charset="0"/>
            </a:rPr>
            <a:t>3) Data Layer</a:t>
          </a:r>
          <a:endParaRPr lang="en-US" sz="1800" kern="1200" dirty="0">
            <a:latin typeface="Times New Roman" panose="02020603050405020304" pitchFamily="18" charset="0"/>
            <a:cs typeface="Times New Roman" panose="02020603050405020304" pitchFamily="18" charset="0"/>
          </a:endParaRPr>
        </a:p>
      </dsp:txBody>
      <dsp:txXfrm>
        <a:off x="3999222" y="2433281"/>
        <a:ext cx="2929383" cy="1757630"/>
      </dsp:txXfrm>
    </dsp:sp>
    <dsp:sp modelId="{1118A7EB-493D-4F87-ADAF-E137D7B73F19}">
      <dsp:nvSpPr>
        <dsp:cNvPr id="0" name=""/>
        <dsp:cNvSpPr/>
      </dsp:nvSpPr>
      <dsp:spPr>
        <a:xfrm>
          <a:off x="7602364" y="2433281"/>
          <a:ext cx="2929383" cy="175763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ctr" anchorCtr="0">
          <a:noAutofit/>
        </a:bodyPr>
        <a:lstStyle/>
        <a:p>
          <a:pPr marL="0" lvl="0" indent="0" algn="ctr" defTabSz="577850">
            <a:lnSpc>
              <a:spcPct val="90000"/>
            </a:lnSpc>
            <a:spcBef>
              <a:spcPct val="0"/>
            </a:spcBef>
            <a:spcAft>
              <a:spcPct val="35000"/>
            </a:spcAft>
            <a:buNone/>
          </a:pPr>
          <a:r>
            <a:rPr lang="en-US" sz="1300" b="0" i="0" kern="1200"/>
            <a:t>Data Layer is the foundation of Iceberg tables, holding the actual data files. The data layer is optimized for efficient querying and data management, supporting operations like partitioning, which groups similar rows together to speed up queries.</a:t>
          </a:r>
          <a:endParaRPr lang="en-US" sz="1300" kern="1200"/>
        </a:p>
      </dsp:txBody>
      <dsp:txXfrm>
        <a:off x="7602364" y="2433281"/>
        <a:ext cx="2929383" cy="175763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F3B26-5076-CE7C-50ED-5D35277079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D9F02A-0920-6174-E5F9-01143A90D9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A3EA26-6FC8-F2B1-C94C-ED136089806F}"/>
              </a:ext>
            </a:extLst>
          </p:cNvPr>
          <p:cNvSpPr>
            <a:spLocks noGrp="1"/>
          </p:cNvSpPr>
          <p:nvPr>
            <p:ph type="dt" sz="half" idx="10"/>
          </p:nvPr>
        </p:nvSpPr>
        <p:spPr/>
        <p:txBody>
          <a:bodyPr/>
          <a:lstStyle/>
          <a:p>
            <a:fld id="{7C3AF314-8D4D-44A0-9962-80F445BFA301}" type="datetimeFigureOut">
              <a:rPr lang="en-US" smtClean="0"/>
              <a:t>7/26/2025</a:t>
            </a:fld>
            <a:endParaRPr lang="en-US"/>
          </a:p>
        </p:txBody>
      </p:sp>
      <p:sp>
        <p:nvSpPr>
          <p:cNvPr id="5" name="Footer Placeholder 4">
            <a:extLst>
              <a:ext uri="{FF2B5EF4-FFF2-40B4-BE49-F238E27FC236}">
                <a16:creationId xmlns:a16="http://schemas.microsoft.com/office/drawing/2014/main" id="{0ABBA992-4E2A-F84C-0170-D3879FCCF5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418B53-5A01-A79D-9A01-E19F3E601656}"/>
              </a:ext>
            </a:extLst>
          </p:cNvPr>
          <p:cNvSpPr>
            <a:spLocks noGrp="1"/>
          </p:cNvSpPr>
          <p:nvPr>
            <p:ph type="sldNum" sz="quarter" idx="12"/>
          </p:nvPr>
        </p:nvSpPr>
        <p:spPr/>
        <p:txBody>
          <a:bodyPr/>
          <a:lstStyle/>
          <a:p>
            <a:fld id="{E22D9AAC-8197-4408-B0F7-61BA6430D900}" type="slidenum">
              <a:rPr lang="en-US" smtClean="0"/>
              <a:t>‹#›</a:t>
            </a:fld>
            <a:endParaRPr lang="en-US"/>
          </a:p>
        </p:txBody>
      </p:sp>
    </p:spTree>
    <p:extLst>
      <p:ext uri="{BB962C8B-B14F-4D97-AF65-F5344CB8AC3E}">
        <p14:creationId xmlns:p14="http://schemas.microsoft.com/office/powerpoint/2010/main" val="623620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AC148-B8BB-98F8-CFD0-99D0BB730F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F05ECC-9475-F4F4-2B6C-8A81808A69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177609-3855-3FCF-2DA4-03F8B3D2F0CD}"/>
              </a:ext>
            </a:extLst>
          </p:cNvPr>
          <p:cNvSpPr>
            <a:spLocks noGrp="1"/>
          </p:cNvSpPr>
          <p:nvPr>
            <p:ph type="dt" sz="half" idx="10"/>
          </p:nvPr>
        </p:nvSpPr>
        <p:spPr/>
        <p:txBody>
          <a:bodyPr/>
          <a:lstStyle/>
          <a:p>
            <a:fld id="{7C3AF314-8D4D-44A0-9962-80F445BFA301}" type="datetimeFigureOut">
              <a:rPr lang="en-US" smtClean="0"/>
              <a:t>7/26/2025</a:t>
            </a:fld>
            <a:endParaRPr lang="en-US"/>
          </a:p>
        </p:txBody>
      </p:sp>
      <p:sp>
        <p:nvSpPr>
          <p:cNvPr id="5" name="Footer Placeholder 4">
            <a:extLst>
              <a:ext uri="{FF2B5EF4-FFF2-40B4-BE49-F238E27FC236}">
                <a16:creationId xmlns:a16="http://schemas.microsoft.com/office/drawing/2014/main" id="{967384E7-2150-A40D-ED06-BAD382A5F4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BD761B-2DB0-DD01-0E81-A5FFADC6D51B}"/>
              </a:ext>
            </a:extLst>
          </p:cNvPr>
          <p:cNvSpPr>
            <a:spLocks noGrp="1"/>
          </p:cNvSpPr>
          <p:nvPr>
            <p:ph type="sldNum" sz="quarter" idx="12"/>
          </p:nvPr>
        </p:nvSpPr>
        <p:spPr/>
        <p:txBody>
          <a:bodyPr/>
          <a:lstStyle/>
          <a:p>
            <a:fld id="{E22D9AAC-8197-4408-B0F7-61BA6430D900}" type="slidenum">
              <a:rPr lang="en-US" smtClean="0"/>
              <a:t>‹#›</a:t>
            </a:fld>
            <a:endParaRPr lang="en-US"/>
          </a:p>
        </p:txBody>
      </p:sp>
    </p:spTree>
    <p:extLst>
      <p:ext uri="{BB962C8B-B14F-4D97-AF65-F5344CB8AC3E}">
        <p14:creationId xmlns:p14="http://schemas.microsoft.com/office/powerpoint/2010/main" val="1281977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CB0C-6F5A-BCF5-A049-F01955719A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6A80CF-D6A6-7A07-F31F-F4EE921916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D3FFAB-652D-0E69-DCEE-BCF803F0C262}"/>
              </a:ext>
            </a:extLst>
          </p:cNvPr>
          <p:cNvSpPr>
            <a:spLocks noGrp="1"/>
          </p:cNvSpPr>
          <p:nvPr>
            <p:ph type="dt" sz="half" idx="10"/>
          </p:nvPr>
        </p:nvSpPr>
        <p:spPr/>
        <p:txBody>
          <a:bodyPr/>
          <a:lstStyle/>
          <a:p>
            <a:fld id="{7C3AF314-8D4D-44A0-9962-80F445BFA301}" type="datetimeFigureOut">
              <a:rPr lang="en-US" smtClean="0"/>
              <a:t>7/26/2025</a:t>
            </a:fld>
            <a:endParaRPr lang="en-US"/>
          </a:p>
        </p:txBody>
      </p:sp>
      <p:sp>
        <p:nvSpPr>
          <p:cNvPr id="5" name="Footer Placeholder 4">
            <a:extLst>
              <a:ext uri="{FF2B5EF4-FFF2-40B4-BE49-F238E27FC236}">
                <a16:creationId xmlns:a16="http://schemas.microsoft.com/office/drawing/2014/main" id="{F90584DF-F1F6-D3AD-086A-9D5E6F4480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4F13D4-F012-84A9-10C4-A1EB25886FDD}"/>
              </a:ext>
            </a:extLst>
          </p:cNvPr>
          <p:cNvSpPr>
            <a:spLocks noGrp="1"/>
          </p:cNvSpPr>
          <p:nvPr>
            <p:ph type="sldNum" sz="quarter" idx="12"/>
          </p:nvPr>
        </p:nvSpPr>
        <p:spPr/>
        <p:txBody>
          <a:bodyPr/>
          <a:lstStyle/>
          <a:p>
            <a:fld id="{E22D9AAC-8197-4408-B0F7-61BA6430D900}" type="slidenum">
              <a:rPr lang="en-US" smtClean="0"/>
              <a:t>‹#›</a:t>
            </a:fld>
            <a:endParaRPr lang="en-US"/>
          </a:p>
        </p:txBody>
      </p:sp>
    </p:spTree>
    <p:extLst>
      <p:ext uri="{BB962C8B-B14F-4D97-AF65-F5344CB8AC3E}">
        <p14:creationId xmlns:p14="http://schemas.microsoft.com/office/powerpoint/2010/main" val="3853118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CEC01-DF99-032D-1DEA-32AD529E6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74CEE5-705B-9642-AD31-C4ECD3E84F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F2BBF5-0894-1937-3126-A3E59CC1D3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D9FD56-39B5-AE6E-9A38-26EF52CE9C79}"/>
              </a:ext>
            </a:extLst>
          </p:cNvPr>
          <p:cNvSpPr>
            <a:spLocks noGrp="1"/>
          </p:cNvSpPr>
          <p:nvPr>
            <p:ph type="dt" sz="half" idx="10"/>
          </p:nvPr>
        </p:nvSpPr>
        <p:spPr/>
        <p:txBody>
          <a:bodyPr/>
          <a:lstStyle/>
          <a:p>
            <a:fld id="{7C3AF314-8D4D-44A0-9962-80F445BFA301}" type="datetimeFigureOut">
              <a:rPr lang="en-US" smtClean="0"/>
              <a:t>7/26/2025</a:t>
            </a:fld>
            <a:endParaRPr lang="en-US"/>
          </a:p>
        </p:txBody>
      </p:sp>
      <p:sp>
        <p:nvSpPr>
          <p:cNvPr id="6" name="Footer Placeholder 5">
            <a:extLst>
              <a:ext uri="{FF2B5EF4-FFF2-40B4-BE49-F238E27FC236}">
                <a16:creationId xmlns:a16="http://schemas.microsoft.com/office/drawing/2014/main" id="{16143C02-4CB3-4CF6-3C0F-61C506695C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C4C41-A04A-C3CF-1717-B054BBEDB033}"/>
              </a:ext>
            </a:extLst>
          </p:cNvPr>
          <p:cNvSpPr>
            <a:spLocks noGrp="1"/>
          </p:cNvSpPr>
          <p:nvPr>
            <p:ph type="sldNum" sz="quarter" idx="12"/>
          </p:nvPr>
        </p:nvSpPr>
        <p:spPr/>
        <p:txBody>
          <a:bodyPr/>
          <a:lstStyle/>
          <a:p>
            <a:fld id="{E22D9AAC-8197-4408-B0F7-61BA6430D900}" type="slidenum">
              <a:rPr lang="en-US" smtClean="0"/>
              <a:t>‹#›</a:t>
            </a:fld>
            <a:endParaRPr lang="en-US"/>
          </a:p>
        </p:txBody>
      </p:sp>
    </p:spTree>
    <p:extLst>
      <p:ext uri="{BB962C8B-B14F-4D97-AF65-F5344CB8AC3E}">
        <p14:creationId xmlns:p14="http://schemas.microsoft.com/office/powerpoint/2010/main" val="1795120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AA84F-F70B-261E-1633-73EC46108F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6ADD99-8AC5-0F8A-1B4A-C9426901CC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499E7A-FE0F-A3F7-AE9E-A1E3BD2DDE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4CCFDF-C8BC-7EF8-DC4F-44DE2C4AAB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0D2915-DA21-CE53-F9AB-6D0AE94215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86CB3E-6350-B420-1112-DD82AEE01D90}"/>
              </a:ext>
            </a:extLst>
          </p:cNvPr>
          <p:cNvSpPr>
            <a:spLocks noGrp="1"/>
          </p:cNvSpPr>
          <p:nvPr>
            <p:ph type="dt" sz="half" idx="10"/>
          </p:nvPr>
        </p:nvSpPr>
        <p:spPr/>
        <p:txBody>
          <a:bodyPr/>
          <a:lstStyle/>
          <a:p>
            <a:fld id="{7C3AF314-8D4D-44A0-9962-80F445BFA301}" type="datetimeFigureOut">
              <a:rPr lang="en-US" smtClean="0"/>
              <a:t>7/26/2025</a:t>
            </a:fld>
            <a:endParaRPr lang="en-US"/>
          </a:p>
        </p:txBody>
      </p:sp>
      <p:sp>
        <p:nvSpPr>
          <p:cNvPr id="8" name="Footer Placeholder 7">
            <a:extLst>
              <a:ext uri="{FF2B5EF4-FFF2-40B4-BE49-F238E27FC236}">
                <a16:creationId xmlns:a16="http://schemas.microsoft.com/office/drawing/2014/main" id="{37647A1C-3F24-27E2-95E3-45BCD8410B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0974B2-6098-02BF-F4B6-32E34A9B75FB}"/>
              </a:ext>
            </a:extLst>
          </p:cNvPr>
          <p:cNvSpPr>
            <a:spLocks noGrp="1"/>
          </p:cNvSpPr>
          <p:nvPr>
            <p:ph type="sldNum" sz="quarter" idx="12"/>
          </p:nvPr>
        </p:nvSpPr>
        <p:spPr/>
        <p:txBody>
          <a:bodyPr/>
          <a:lstStyle/>
          <a:p>
            <a:fld id="{E22D9AAC-8197-4408-B0F7-61BA6430D900}" type="slidenum">
              <a:rPr lang="en-US" smtClean="0"/>
              <a:t>‹#›</a:t>
            </a:fld>
            <a:endParaRPr lang="en-US"/>
          </a:p>
        </p:txBody>
      </p:sp>
    </p:spTree>
    <p:extLst>
      <p:ext uri="{BB962C8B-B14F-4D97-AF65-F5344CB8AC3E}">
        <p14:creationId xmlns:p14="http://schemas.microsoft.com/office/powerpoint/2010/main" val="1979694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FED-71A1-1808-D0AC-9A12182DEA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CBBB1C-1BB1-E36C-F96F-E0219C4BA231}"/>
              </a:ext>
            </a:extLst>
          </p:cNvPr>
          <p:cNvSpPr>
            <a:spLocks noGrp="1"/>
          </p:cNvSpPr>
          <p:nvPr>
            <p:ph type="dt" sz="half" idx="10"/>
          </p:nvPr>
        </p:nvSpPr>
        <p:spPr/>
        <p:txBody>
          <a:bodyPr/>
          <a:lstStyle/>
          <a:p>
            <a:fld id="{7C3AF314-8D4D-44A0-9962-80F445BFA301}" type="datetimeFigureOut">
              <a:rPr lang="en-US" smtClean="0"/>
              <a:t>7/26/2025</a:t>
            </a:fld>
            <a:endParaRPr lang="en-US"/>
          </a:p>
        </p:txBody>
      </p:sp>
      <p:sp>
        <p:nvSpPr>
          <p:cNvPr id="4" name="Footer Placeholder 3">
            <a:extLst>
              <a:ext uri="{FF2B5EF4-FFF2-40B4-BE49-F238E27FC236}">
                <a16:creationId xmlns:a16="http://schemas.microsoft.com/office/drawing/2014/main" id="{CF52BC7C-1092-862E-B888-29D8FCF645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02C46B-B83B-DC17-0250-14F65AED7478}"/>
              </a:ext>
            </a:extLst>
          </p:cNvPr>
          <p:cNvSpPr>
            <a:spLocks noGrp="1"/>
          </p:cNvSpPr>
          <p:nvPr>
            <p:ph type="sldNum" sz="quarter" idx="12"/>
          </p:nvPr>
        </p:nvSpPr>
        <p:spPr/>
        <p:txBody>
          <a:bodyPr/>
          <a:lstStyle/>
          <a:p>
            <a:fld id="{E22D9AAC-8197-4408-B0F7-61BA6430D900}" type="slidenum">
              <a:rPr lang="en-US" smtClean="0"/>
              <a:t>‹#›</a:t>
            </a:fld>
            <a:endParaRPr lang="en-US"/>
          </a:p>
        </p:txBody>
      </p:sp>
    </p:spTree>
    <p:extLst>
      <p:ext uri="{BB962C8B-B14F-4D97-AF65-F5344CB8AC3E}">
        <p14:creationId xmlns:p14="http://schemas.microsoft.com/office/powerpoint/2010/main" val="160506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CA20AA-EB77-80DE-A6BE-D0DB0C185BA5}"/>
              </a:ext>
            </a:extLst>
          </p:cNvPr>
          <p:cNvSpPr>
            <a:spLocks noGrp="1"/>
          </p:cNvSpPr>
          <p:nvPr>
            <p:ph type="dt" sz="half" idx="10"/>
          </p:nvPr>
        </p:nvSpPr>
        <p:spPr/>
        <p:txBody>
          <a:bodyPr/>
          <a:lstStyle/>
          <a:p>
            <a:fld id="{7C3AF314-8D4D-44A0-9962-80F445BFA301}" type="datetimeFigureOut">
              <a:rPr lang="en-US" smtClean="0"/>
              <a:t>7/26/2025</a:t>
            </a:fld>
            <a:endParaRPr lang="en-US"/>
          </a:p>
        </p:txBody>
      </p:sp>
      <p:sp>
        <p:nvSpPr>
          <p:cNvPr id="3" name="Footer Placeholder 2">
            <a:extLst>
              <a:ext uri="{FF2B5EF4-FFF2-40B4-BE49-F238E27FC236}">
                <a16:creationId xmlns:a16="http://schemas.microsoft.com/office/drawing/2014/main" id="{ABBA4D17-5A1B-80EF-CD30-FD6E3CC988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95F363-9BDE-2509-2282-83392561EAD6}"/>
              </a:ext>
            </a:extLst>
          </p:cNvPr>
          <p:cNvSpPr>
            <a:spLocks noGrp="1"/>
          </p:cNvSpPr>
          <p:nvPr>
            <p:ph type="sldNum" sz="quarter" idx="12"/>
          </p:nvPr>
        </p:nvSpPr>
        <p:spPr/>
        <p:txBody>
          <a:bodyPr/>
          <a:lstStyle/>
          <a:p>
            <a:fld id="{E22D9AAC-8197-4408-B0F7-61BA6430D900}" type="slidenum">
              <a:rPr lang="en-US" smtClean="0"/>
              <a:t>‹#›</a:t>
            </a:fld>
            <a:endParaRPr lang="en-US"/>
          </a:p>
        </p:txBody>
      </p:sp>
    </p:spTree>
    <p:extLst>
      <p:ext uri="{BB962C8B-B14F-4D97-AF65-F5344CB8AC3E}">
        <p14:creationId xmlns:p14="http://schemas.microsoft.com/office/powerpoint/2010/main" val="3527765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86332-E8B8-5BD0-0ABF-CCF5387291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E4C24F-91BD-D43A-33B4-8EBFA32A45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9CC93D-E672-9B1F-3C45-F328E179A3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95C6BE-6437-C66D-A119-41B052B0D4D7}"/>
              </a:ext>
            </a:extLst>
          </p:cNvPr>
          <p:cNvSpPr>
            <a:spLocks noGrp="1"/>
          </p:cNvSpPr>
          <p:nvPr>
            <p:ph type="dt" sz="half" idx="10"/>
          </p:nvPr>
        </p:nvSpPr>
        <p:spPr/>
        <p:txBody>
          <a:bodyPr/>
          <a:lstStyle/>
          <a:p>
            <a:fld id="{7C3AF314-8D4D-44A0-9962-80F445BFA301}" type="datetimeFigureOut">
              <a:rPr lang="en-US" smtClean="0"/>
              <a:t>7/26/2025</a:t>
            </a:fld>
            <a:endParaRPr lang="en-US"/>
          </a:p>
        </p:txBody>
      </p:sp>
      <p:sp>
        <p:nvSpPr>
          <p:cNvPr id="6" name="Footer Placeholder 5">
            <a:extLst>
              <a:ext uri="{FF2B5EF4-FFF2-40B4-BE49-F238E27FC236}">
                <a16:creationId xmlns:a16="http://schemas.microsoft.com/office/drawing/2014/main" id="{A691FD18-0DC4-E7DD-A7C5-6AB6A40F30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71FC0A-31F8-741B-EE18-A5D8ABA874E5}"/>
              </a:ext>
            </a:extLst>
          </p:cNvPr>
          <p:cNvSpPr>
            <a:spLocks noGrp="1"/>
          </p:cNvSpPr>
          <p:nvPr>
            <p:ph type="sldNum" sz="quarter" idx="12"/>
          </p:nvPr>
        </p:nvSpPr>
        <p:spPr/>
        <p:txBody>
          <a:bodyPr/>
          <a:lstStyle/>
          <a:p>
            <a:fld id="{E22D9AAC-8197-4408-B0F7-61BA6430D900}" type="slidenum">
              <a:rPr lang="en-US" smtClean="0"/>
              <a:t>‹#›</a:t>
            </a:fld>
            <a:endParaRPr lang="en-US"/>
          </a:p>
        </p:txBody>
      </p:sp>
    </p:spTree>
    <p:extLst>
      <p:ext uri="{BB962C8B-B14F-4D97-AF65-F5344CB8AC3E}">
        <p14:creationId xmlns:p14="http://schemas.microsoft.com/office/powerpoint/2010/main" val="673121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D14E5-D58D-090F-363D-843AC555C6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0BA7B3-307A-B43D-DECD-7A93B162F2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52684E-F240-1A24-C79A-2F52B19D21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F14FA1-F9D6-EA1F-D1E0-7886E84CF0B8}"/>
              </a:ext>
            </a:extLst>
          </p:cNvPr>
          <p:cNvSpPr>
            <a:spLocks noGrp="1"/>
          </p:cNvSpPr>
          <p:nvPr>
            <p:ph type="dt" sz="half" idx="10"/>
          </p:nvPr>
        </p:nvSpPr>
        <p:spPr/>
        <p:txBody>
          <a:bodyPr/>
          <a:lstStyle/>
          <a:p>
            <a:fld id="{7C3AF314-8D4D-44A0-9962-80F445BFA301}" type="datetimeFigureOut">
              <a:rPr lang="en-US" smtClean="0"/>
              <a:t>7/26/2025</a:t>
            </a:fld>
            <a:endParaRPr lang="en-US"/>
          </a:p>
        </p:txBody>
      </p:sp>
      <p:sp>
        <p:nvSpPr>
          <p:cNvPr id="6" name="Footer Placeholder 5">
            <a:extLst>
              <a:ext uri="{FF2B5EF4-FFF2-40B4-BE49-F238E27FC236}">
                <a16:creationId xmlns:a16="http://schemas.microsoft.com/office/drawing/2014/main" id="{BCB7CA2F-4E6C-F2D7-0DF7-E785EF7DFC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89F055-D4FD-9CE4-083E-1239F6678BBC}"/>
              </a:ext>
            </a:extLst>
          </p:cNvPr>
          <p:cNvSpPr>
            <a:spLocks noGrp="1"/>
          </p:cNvSpPr>
          <p:nvPr>
            <p:ph type="sldNum" sz="quarter" idx="12"/>
          </p:nvPr>
        </p:nvSpPr>
        <p:spPr/>
        <p:txBody>
          <a:bodyPr/>
          <a:lstStyle/>
          <a:p>
            <a:fld id="{E22D9AAC-8197-4408-B0F7-61BA6430D900}" type="slidenum">
              <a:rPr lang="en-US" smtClean="0"/>
              <a:t>‹#›</a:t>
            </a:fld>
            <a:endParaRPr lang="en-US"/>
          </a:p>
        </p:txBody>
      </p:sp>
    </p:spTree>
    <p:extLst>
      <p:ext uri="{BB962C8B-B14F-4D97-AF65-F5344CB8AC3E}">
        <p14:creationId xmlns:p14="http://schemas.microsoft.com/office/powerpoint/2010/main" val="663660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138D-B9DB-05C7-7468-E9EBDA7E37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920062-6DB6-1A66-A7A4-1608EEAF76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6ABBE1-B78E-0793-03CC-C3B4C70D27DD}"/>
              </a:ext>
            </a:extLst>
          </p:cNvPr>
          <p:cNvSpPr>
            <a:spLocks noGrp="1"/>
          </p:cNvSpPr>
          <p:nvPr>
            <p:ph type="dt" sz="half" idx="10"/>
          </p:nvPr>
        </p:nvSpPr>
        <p:spPr/>
        <p:txBody>
          <a:bodyPr/>
          <a:lstStyle/>
          <a:p>
            <a:fld id="{7C3AF314-8D4D-44A0-9962-80F445BFA301}" type="datetimeFigureOut">
              <a:rPr lang="en-US" smtClean="0"/>
              <a:t>7/26/2025</a:t>
            </a:fld>
            <a:endParaRPr lang="en-US"/>
          </a:p>
        </p:txBody>
      </p:sp>
      <p:sp>
        <p:nvSpPr>
          <p:cNvPr id="5" name="Footer Placeholder 4">
            <a:extLst>
              <a:ext uri="{FF2B5EF4-FFF2-40B4-BE49-F238E27FC236}">
                <a16:creationId xmlns:a16="http://schemas.microsoft.com/office/drawing/2014/main" id="{2CCDAA02-A040-E4E4-D1C0-12BFA47B74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BB06F2-7B90-8CA1-1C06-F96DB3AE54FE}"/>
              </a:ext>
            </a:extLst>
          </p:cNvPr>
          <p:cNvSpPr>
            <a:spLocks noGrp="1"/>
          </p:cNvSpPr>
          <p:nvPr>
            <p:ph type="sldNum" sz="quarter" idx="12"/>
          </p:nvPr>
        </p:nvSpPr>
        <p:spPr/>
        <p:txBody>
          <a:bodyPr/>
          <a:lstStyle/>
          <a:p>
            <a:fld id="{E22D9AAC-8197-4408-B0F7-61BA6430D900}" type="slidenum">
              <a:rPr lang="en-US" smtClean="0"/>
              <a:t>‹#›</a:t>
            </a:fld>
            <a:endParaRPr lang="en-US"/>
          </a:p>
        </p:txBody>
      </p:sp>
    </p:spTree>
    <p:extLst>
      <p:ext uri="{BB962C8B-B14F-4D97-AF65-F5344CB8AC3E}">
        <p14:creationId xmlns:p14="http://schemas.microsoft.com/office/powerpoint/2010/main" val="2318628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DBD184-519F-2FC4-9FA4-B77F5FD366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F6DE333-CEA8-580F-4B85-0F108DE118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BA0C4D-10B9-77C2-4826-819D93FAF7F6}"/>
              </a:ext>
            </a:extLst>
          </p:cNvPr>
          <p:cNvSpPr>
            <a:spLocks noGrp="1"/>
          </p:cNvSpPr>
          <p:nvPr>
            <p:ph type="dt" sz="half" idx="10"/>
          </p:nvPr>
        </p:nvSpPr>
        <p:spPr/>
        <p:txBody>
          <a:bodyPr/>
          <a:lstStyle/>
          <a:p>
            <a:fld id="{7C3AF314-8D4D-44A0-9962-80F445BFA301}" type="datetimeFigureOut">
              <a:rPr lang="en-US" smtClean="0"/>
              <a:t>7/26/2025</a:t>
            </a:fld>
            <a:endParaRPr lang="en-US"/>
          </a:p>
        </p:txBody>
      </p:sp>
      <p:sp>
        <p:nvSpPr>
          <p:cNvPr id="5" name="Footer Placeholder 4">
            <a:extLst>
              <a:ext uri="{FF2B5EF4-FFF2-40B4-BE49-F238E27FC236}">
                <a16:creationId xmlns:a16="http://schemas.microsoft.com/office/drawing/2014/main" id="{0DB2F4FA-2D0B-D231-6C38-75F28FCD45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ACDDB2-2C0A-90A9-1BA7-05BA55CA38F3}"/>
              </a:ext>
            </a:extLst>
          </p:cNvPr>
          <p:cNvSpPr>
            <a:spLocks noGrp="1"/>
          </p:cNvSpPr>
          <p:nvPr>
            <p:ph type="sldNum" sz="quarter" idx="12"/>
          </p:nvPr>
        </p:nvSpPr>
        <p:spPr/>
        <p:txBody>
          <a:bodyPr/>
          <a:lstStyle/>
          <a:p>
            <a:fld id="{E22D9AAC-8197-4408-B0F7-61BA6430D900}" type="slidenum">
              <a:rPr lang="en-US" smtClean="0"/>
              <a:t>‹#›</a:t>
            </a:fld>
            <a:endParaRPr lang="en-US"/>
          </a:p>
        </p:txBody>
      </p:sp>
    </p:spTree>
    <p:extLst>
      <p:ext uri="{BB962C8B-B14F-4D97-AF65-F5344CB8AC3E}">
        <p14:creationId xmlns:p14="http://schemas.microsoft.com/office/powerpoint/2010/main" val="1048408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6620C6-E031-6665-9F1B-3AA134A498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71B435-F168-460C-29D1-CAD83BF97C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69C129-E899-2F1D-9D2D-0E8A1A9D5E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3AF314-8D4D-44A0-9962-80F445BFA301}" type="datetimeFigureOut">
              <a:rPr lang="en-US" smtClean="0"/>
              <a:t>7/26/2025</a:t>
            </a:fld>
            <a:endParaRPr lang="en-US"/>
          </a:p>
        </p:txBody>
      </p:sp>
      <p:sp>
        <p:nvSpPr>
          <p:cNvPr id="5" name="Footer Placeholder 4">
            <a:extLst>
              <a:ext uri="{FF2B5EF4-FFF2-40B4-BE49-F238E27FC236}">
                <a16:creationId xmlns:a16="http://schemas.microsoft.com/office/drawing/2014/main" id="{23D3C1BF-745D-97FD-C153-5C6291CBBE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C406A67-B062-50D4-8DE2-25B0075A7B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2D9AAC-8197-4408-B0F7-61BA6430D900}" type="slidenum">
              <a:rPr lang="en-US" smtClean="0"/>
              <a:t>‹#›</a:t>
            </a:fld>
            <a:endParaRPr lang="en-US"/>
          </a:p>
        </p:txBody>
      </p:sp>
    </p:spTree>
    <p:extLst>
      <p:ext uri="{BB962C8B-B14F-4D97-AF65-F5344CB8AC3E}">
        <p14:creationId xmlns:p14="http://schemas.microsoft.com/office/powerpoint/2010/main" val="1540711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Word_Document.docx"/><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6A24BB-6DE0-BB02-440A-F5F45E957D22}"/>
              </a:ext>
            </a:extLst>
          </p:cNvPr>
          <p:cNvSpPr txBox="1"/>
          <p:nvPr/>
        </p:nvSpPr>
        <p:spPr>
          <a:xfrm>
            <a:off x="517236" y="318716"/>
            <a:ext cx="6096000" cy="369332"/>
          </a:xfrm>
          <a:prstGeom prst="rect">
            <a:avLst/>
          </a:prstGeom>
          <a:noFill/>
        </p:spPr>
        <p:txBody>
          <a:bodyPr wrap="square">
            <a:spAutoFit/>
          </a:bodyPr>
          <a:lstStyle/>
          <a:p>
            <a:r>
              <a:rPr lang="en-US" sz="1800" b="1" dirty="0">
                <a:solidFill>
                  <a:srgbClr val="105780"/>
                </a:solidFill>
                <a:latin typeface="Helvetica" panose="020B0604020202020204" pitchFamily="34" charset="0"/>
              </a:rPr>
              <a:t>Iceberg Tables</a:t>
            </a:r>
            <a:endParaRPr lang="en-US" dirty="0"/>
          </a:p>
        </p:txBody>
      </p:sp>
      <p:sp>
        <p:nvSpPr>
          <p:cNvPr id="5" name="TextBox 4">
            <a:extLst>
              <a:ext uri="{FF2B5EF4-FFF2-40B4-BE49-F238E27FC236}">
                <a16:creationId xmlns:a16="http://schemas.microsoft.com/office/drawing/2014/main" id="{D7AA2692-0A90-2F8A-27EB-2E063FCBECC1}"/>
              </a:ext>
            </a:extLst>
          </p:cNvPr>
          <p:cNvSpPr txBox="1"/>
          <p:nvPr/>
        </p:nvSpPr>
        <p:spPr>
          <a:xfrm>
            <a:off x="517235" y="753055"/>
            <a:ext cx="10677238" cy="1754326"/>
          </a:xfrm>
          <a:prstGeom prst="rect">
            <a:avLst/>
          </a:prstGeom>
          <a:noFill/>
        </p:spPr>
        <p:txBody>
          <a:bodyPr wrap="square">
            <a:spAutoFit/>
          </a:bodyPr>
          <a:lstStyle/>
          <a:p>
            <a:r>
              <a:rPr lang="en-US" b="1" i="1" dirty="0">
                <a:solidFill>
                  <a:srgbClr val="242424"/>
                </a:solidFill>
                <a:effectLst/>
                <a:latin typeface="Times New Roman" panose="02020603050405020304" pitchFamily="18" charset="0"/>
                <a:cs typeface="Times New Roman" panose="02020603050405020304" pitchFamily="18" charset="0"/>
              </a:rPr>
              <a:t>Iceberg tables </a:t>
            </a:r>
            <a:r>
              <a:rPr lang="en-US" b="0" i="0" dirty="0">
                <a:solidFill>
                  <a:srgbClr val="242424"/>
                </a:solidFill>
                <a:effectLst/>
                <a:latin typeface="Times New Roman" panose="02020603050405020304" pitchFamily="18" charset="0"/>
                <a:cs typeface="Times New Roman" panose="02020603050405020304" pitchFamily="18" charset="0"/>
              </a:rPr>
              <a:t>are the brand new tables which has been made available as public preview for all accounts only recently. Now, these tables are powered by “</a:t>
            </a:r>
            <a:r>
              <a:rPr lang="en-US" b="0" i="1" dirty="0">
                <a:solidFill>
                  <a:srgbClr val="242424"/>
                </a:solidFill>
                <a:effectLst/>
                <a:latin typeface="Times New Roman" panose="02020603050405020304" pitchFamily="18" charset="0"/>
                <a:cs typeface="Times New Roman" panose="02020603050405020304" pitchFamily="18" charset="0"/>
              </a:rPr>
              <a:t>Apache iceberg</a:t>
            </a:r>
            <a:r>
              <a:rPr lang="en-US" b="0" i="0" dirty="0">
                <a:solidFill>
                  <a:srgbClr val="242424"/>
                </a:solidFill>
                <a:effectLst/>
                <a:latin typeface="Times New Roman" panose="02020603050405020304" pitchFamily="18" charset="0"/>
                <a:cs typeface="Times New Roman" panose="02020603050405020304" pitchFamily="18" charset="0"/>
              </a:rPr>
              <a:t> </a:t>
            </a:r>
            <a:r>
              <a:rPr lang="en-US" b="0" i="1" dirty="0">
                <a:solidFill>
                  <a:srgbClr val="242424"/>
                </a:solidFill>
                <a:effectLst/>
                <a:latin typeface="Times New Roman" panose="02020603050405020304" pitchFamily="18" charset="0"/>
                <a:cs typeface="Times New Roman" panose="02020603050405020304" pitchFamily="18" charset="0"/>
              </a:rPr>
              <a:t>open table formats</a:t>
            </a:r>
            <a:r>
              <a:rPr lang="en-US" b="0" i="0" dirty="0">
                <a:solidFill>
                  <a:srgbClr val="242424"/>
                </a:solidFill>
                <a:effectLst/>
                <a:latin typeface="Times New Roman" panose="02020603050405020304" pitchFamily="18" charset="0"/>
                <a:cs typeface="Times New Roman" panose="02020603050405020304" pitchFamily="18" charset="0"/>
              </a:rPr>
              <a:t>” and the idea is to store the data &amp; metadata all within customer managed storage and being able to use the standard Snowflake features like execute the DMLs, encryption. Iceberg tables for Snowflake integrate your own external cloud storage with the query semantics and performance of standard Snowflake tables. They are perfect for data lakes that already exist and that you can’t or don’t want to store in Snowflake.</a:t>
            </a:r>
            <a:endParaRPr lang="en-US" dirty="0">
              <a:latin typeface="Times New Roman" panose="02020603050405020304" pitchFamily="18" charset="0"/>
              <a:cs typeface="Times New Roman" panose="02020603050405020304" pitchFamily="18" charset="0"/>
            </a:endParaRPr>
          </a:p>
        </p:txBody>
      </p:sp>
      <p:graphicFrame>
        <p:nvGraphicFramePr>
          <p:cNvPr id="7" name="TextBox 1">
            <a:extLst>
              <a:ext uri="{FF2B5EF4-FFF2-40B4-BE49-F238E27FC236}">
                <a16:creationId xmlns:a16="http://schemas.microsoft.com/office/drawing/2014/main" id="{6AAFE56F-6CF7-081B-AC5D-E8CB71B8814F}"/>
              </a:ext>
            </a:extLst>
          </p:cNvPr>
          <p:cNvGraphicFramePr/>
          <p:nvPr>
            <p:extLst>
              <p:ext uri="{D42A27DB-BD31-4B8C-83A1-F6EECF244321}">
                <p14:modId xmlns:p14="http://schemas.microsoft.com/office/powerpoint/2010/main" val="2460566641"/>
              </p:ext>
            </p:extLst>
          </p:nvPr>
        </p:nvGraphicFramePr>
        <p:xfrm>
          <a:off x="716001" y="3027855"/>
          <a:ext cx="10279705" cy="23391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1436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CAC6B9-948B-7ECA-740C-0F873BC12A3C}"/>
              </a:ext>
            </a:extLst>
          </p:cNvPr>
          <p:cNvPicPr>
            <a:picLocks noChangeAspect="1"/>
          </p:cNvPicPr>
          <p:nvPr/>
        </p:nvPicPr>
        <p:blipFill>
          <a:blip r:embed="rId2"/>
          <a:stretch>
            <a:fillRect/>
          </a:stretch>
        </p:blipFill>
        <p:spPr>
          <a:xfrm>
            <a:off x="468536" y="909536"/>
            <a:ext cx="7731881" cy="5503424"/>
          </a:xfrm>
          <a:prstGeom prst="rect">
            <a:avLst/>
          </a:prstGeom>
        </p:spPr>
      </p:pic>
      <p:sp>
        <p:nvSpPr>
          <p:cNvPr id="5" name="TextBox 4">
            <a:extLst>
              <a:ext uri="{FF2B5EF4-FFF2-40B4-BE49-F238E27FC236}">
                <a16:creationId xmlns:a16="http://schemas.microsoft.com/office/drawing/2014/main" id="{FA669611-FCE4-7725-E9B4-5B83493DC49C}"/>
              </a:ext>
            </a:extLst>
          </p:cNvPr>
          <p:cNvSpPr txBox="1"/>
          <p:nvPr/>
        </p:nvSpPr>
        <p:spPr>
          <a:xfrm>
            <a:off x="907104" y="724870"/>
            <a:ext cx="6094378" cy="369332"/>
          </a:xfrm>
          <a:prstGeom prst="rect">
            <a:avLst/>
          </a:prstGeom>
          <a:noFill/>
        </p:spPr>
        <p:txBody>
          <a:bodyPr wrap="square">
            <a:spAutoFit/>
          </a:bodyPr>
          <a:lstStyle/>
          <a:p>
            <a:pPr algn="l"/>
            <a:r>
              <a:rPr lang="en-US" b="1" i="0" dirty="0">
                <a:solidFill>
                  <a:srgbClr val="242424"/>
                </a:solidFill>
                <a:effectLst/>
                <a:highlight>
                  <a:srgbClr val="FFFFFF"/>
                </a:highlight>
                <a:latin typeface="sohne"/>
              </a:rPr>
              <a:t>Table formats and why they matter</a:t>
            </a:r>
          </a:p>
        </p:txBody>
      </p:sp>
      <p:sp>
        <p:nvSpPr>
          <p:cNvPr id="7" name="TextBox 6">
            <a:extLst>
              <a:ext uri="{FF2B5EF4-FFF2-40B4-BE49-F238E27FC236}">
                <a16:creationId xmlns:a16="http://schemas.microsoft.com/office/drawing/2014/main" id="{0C9E19D4-060C-2186-6115-3810E1B2CE18}"/>
              </a:ext>
            </a:extLst>
          </p:cNvPr>
          <p:cNvSpPr txBox="1"/>
          <p:nvPr/>
        </p:nvSpPr>
        <p:spPr>
          <a:xfrm>
            <a:off x="7288449" y="4497887"/>
            <a:ext cx="4598751" cy="1477328"/>
          </a:xfrm>
          <a:prstGeom prst="rect">
            <a:avLst/>
          </a:prstGeom>
          <a:noFill/>
        </p:spPr>
        <p:txBody>
          <a:bodyPr wrap="square">
            <a:spAutoFit/>
          </a:bodyPr>
          <a:lstStyle/>
          <a:p>
            <a:r>
              <a:rPr lang="en-US" dirty="0"/>
              <a:t>Diagram illustrates how Iceberg leverages external storage to manage large datasets efficiently. The separation of data and metadata, make Iceberg a powerful tool for data lake and data warehouse scenarios</a:t>
            </a:r>
          </a:p>
        </p:txBody>
      </p:sp>
    </p:spTree>
    <p:extLst>
      <p:ext uri="{BB962C8B-B14F-4D97-AF65-F5344CB8AC3E}">
        <p14:creationId xmlns:p14="http://schemas.microsoft.com/office/powerpoint/2010/main" val="1221995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856F9E9-D0BA-87E5-235C-D6AD0DD661E2}"/>
              </a:ext>
            </a:extLst>
          </p:cNvPr>
          <p:cNvSpPr txBox="1"/>
          <p:nvPr/>
        </p:nvSpPr>
        <p:spPr>
          <a:xfrm>
            <a:off x="9267909" y="2023110"/>
            <a:ext cx="2469624" cy="284607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300" b="1" kern="1200">
                <a:solidFill>
                  <a:schemeClr val="tx1"/>
                </a:solidFill>
                <a:effectLst/>
                <a:highlight>
                  <a:srgbClr val="FFFFFF"/>
                </a:highlight>
                <a:latin typeface="+mj-lt"/>
                <a:ea typeface="+mj-ea"/>
                <a:cs typeface="+mj-cs"/>
              </a:rPr>
              <a:t>This table provides a high-level comparison of Snowflake Iceberg and native Snowflake tables</a:t>
            </a:r>
            <a:r>
              <a:rPr lang="en-US" sz="2300" kern="1200">
                <a:solidFill>
                  <a:schemeClr val="tx1"/>
                </a:solidFill>
                <a:effectLst/>
                <a:highlight>
                  <a:srgbClr val="FFFFFF"/>
                </a:highlight>
                <a:latin typeface="+mj-lt"/>
                <a:ea typeface="+mj-ea"/>
                <a:cs typeface="+mj-cs"/>
              </a:rPr>
              <a:t> </a:t>
            </a:r>
            <a:endParaRPr lang="en-US" sz="2300" kern="1200">
              <a:solidFill>
                <a:schemeClr val="tx1"/>
              </a:solidFill>
              <a:latin typeface="+mj-lt"/>
              <a:ea typeface="+mj-ea"/>
              <a:cs typeface="+mj-cs"/>
            </a:endParaRPr>
          </a:p>
        </p:txBody>
      </p:sp>
      <p:sp>
        <p:nvSpPr>
          <p:cNvPr id="30" name="Rectangle 2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55EEC92B-A23F-9519-005E-4DC12A9010B3}"/>
              </a:ext>
            </a:extLst>
          </p:cNvPr>
          <p:cNvGraphicFramePr>
            <a:graphicFrameLocks noGrp="1"/>
          </p:cNvGraphicFramePr>
          <p:nvPr>
            <p:extLst>
              <p:ext uri="{D42A27DB-BD31-4B8C-83A1-F6EECF244321}">
                <p14:modId xmlns:p14="http://schemas.microsoft.com/office/powerpoint/2010/main" val="3345694486"/>
              </p:ext>
            </p:extLst>
          </p:nvPr>
        </p:nvGraphicFramePr>
        <p:xfrm>
          <a:off x="545238" y="1331412"/>
          <a:ext cx="7608305" cy="4266136"/>
        </p:xfrm>
        <a:graphic>
          <a:graphicData uri="http://schemas.openxmlformats.org/drawingml/2006/table">
            <a:tbl>
              <a:tblPr firstRow="1" firstCol="1" bandRow="1">
                <a:tableStyleId>{5C22544A-7EE6-4342-B048-85BDC9FD1C3A}</a:tableStyleId>
              </a:tblPr>
              <a:tblGrid>
                <a:gridCol w="1383235">
                  <a:extLst>
                    <a:ext uri="{9D8B030D-6E8A-4147-A177-3AD203B41FA5}">
                      <a16:colId xmlns:a16="http://schemas.microsoft.com/office/drawing/2014/main" val="4045370898"/>
                    </a:ext>
                  </a:extLst>
                </a:gridCol>
                <a:gridCol w="2744407">
                  <a:extLst>
                    <a:ext uri="{9D8B030D-6E8A-4147-A177-3AD203B41FA5}">
                      <a16:colId xmlns:a16="http://schemas.microsoft.com/office/drawing/2014/main" val="4220195404"/>
                    </a:ext>
                  </a:extLst>
                </a:gridCol>
                <a:gridCol w="3480663">
                  <a:extLst>
                    <a:ext uri="{9D8B030D-6E8A-4147-A177-3AD203B41FA5}">
                      <a16:colId xmlns:a16="http://schemas.microsoft.com/office/drawing/2014/main" val="463531927"/>
                    </a:ext>
                  </a:extLst>
                </a:gridCol>
              </a:tblGrid>
              <a:tr h="256105">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 </a:t>
                      </a:r>
                    </a:p>
                  </a:txBody>
                  <a:tcPr marL="22121" marR="22121" marT="0" marB="0" anchor="b"/>
                </a:tc>
                <a:tc>
                  <a:txBody>
                    <a:bodyPr/>
                    <a:lstStyle/>
                    <a:p>
                      <a:pPr marL="0" marR="0">
                        <a:lnSpc>
                          <a:spcPct val="115000"/>
                        </a:lnSpc>
                        <a:spcBef>
                          <a:spcPts val="0"/>
                        </a:spcBef>
                        <a:spcAft>
                          <a:spcPts val="0"/>
                        </a:spcAft>
                      </a:pPr>
                      <a:r>
                        <a:rPr lang="en-US" sz="1400" kern="100">
                          <a:effectLst/>
                          <a:highlight>
                            <a:srgbClr val="FFFF00"/>
                          </a:highlight>
                          <a:latin typeface="Times New Roman" panose="02020603050405020304" pitchFamily="18" charset="0"/>
                          <a:ea typeface="Tahoma" panose="020B0604030504040204" pitchFamily="34" charset="0"/>
                          <a:cs typeface="Times New Roman" panose="02020603050405020304" pitchFamily="18" charset="0"/>
                        </a:rPr>
                        <a:t>Iceberg Tables</a:t>
                      </a:r>
                    </a:p>
                  </a:txBody>
                  <a:tcPr marL="22121" marR="22121" marT="0" marB="0" anchor="b"/>
                </a:tc>
                <a:tc>
                  <a:txBody>
                    <a:bodyPr/>
                    <a:lstStyle/>
                    <a:p>
                      <a:pPr marL="0" marR="0">
                        <a:lnSpc>
                          <a:spcPct val="115000"/>
                        </a:lnSpc>
                        <a:spcBef>
                          <a:spcPts val="0"/>
                        </a:spcBef>
                        <a:spcAft>
                          <a:spcPts val="0"/>
                        </a:spcAft>
                      </a:pPr>
                      <a:r>
                        <a:rPr lang="en-US" sz="1400" kern="100">
                          <a:effectLst/>
                          <a:highlight>
                            <a:srgbClr val="FFFF00"/>
                          </a:highlight>
                          <a:latin typeface="Times New Roman" panose="02020603050405020304" pitchFamily="18" charset="0"/>
                          <a:ea typeface="Tahoma" panose="020B0604030504040204" pitchFamily="34" charset="0"/>
                          <a:cs typeface="Times New Roman" panose="02020603050405020304" pitchFamily="18" charset="0"/>
                        </a:rPr>
                        <a:t>Native Tables</a:t>
                      </a:r>
                    </a:p>
                  </a:txBody>
                  <a:tcPr marL="22121" marR="22121" marT="0" marB="0" anchor="b"/>
                </a:tc>
                <a:extLst>
                  <a:ext uri="{0D108BD9-81ED-4DB2-BD59-A6C34878D82A}">
                    <a16:rowId xmlns:a16="http://schemas.microsoft.com/office/drawing/2014/main" val="1261103949"/>
                  </a:ext>
                </a:extLst>
              </a:tr>
              <a:tr h="501788">
                <a:tc>
                  <a:txBody>
                    <a:bodyPr/>
                    <a:lstStyle/>
                    <a:p>
                      <a:pPr marL="0" marR="0">
                        <a:lnSpc>
                          <a:spcPct val="115000"/>
                        </a:lnSpc>
                        <a:spcBef>
                          <a:spcPts val="0"/>
                        </a:spcBef>
                        <a:spcAft>
                          <a:spcPts val="0"/>
                        </a:spcAft>
                      </a:pPr>
                      <a:r>
                        <a:rPr lang="en-US" sz="1400" kern="100">
                          <a:effectLst/>
                          <a:highlight>
                            <a:srgbClr val="A9D08E"/>
                          </a:highlight>
                          <a:latin typeface="Times New Roman" panose="02020603050405020304" pitchFamily="18" charset="0"/>
                          <a:ea typeface="Tahoma" panose="020B0604030504040204" pitchFamily="34" charset="0"/>
                          <a:cs typeface="Times New Roman" panose="02020603050405020304" pitchFamily="18" charset="0"/>
                        </a:rPr>
                        <a:t>Metadata Format</a:t>
                      </a:r>
                    </a:p>
                  </a:txBody>
                  <a:tcPr marL="22121" marR="22121" marT="0" marB="0"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Uses Iceberg Format, typically stored as JSON files.</a:t>
                      </a:r>
                    </a:p>
                  </a:txBody>
                  <a:tcPr marL="22121" marR="22121" marT="0" marB="0"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Stored in Native Format (Foundation DB)</a:t>
                      </a:r>
                    </a:p>
                  </a:txBody>
                  <a:tcPr marL="22121" marR="22121" marT="0" marB="0" anchor="b"/>
                </a:tc>
                <a:extLst>
                  <a:ext uri="{0D108BD9-81ED-4DB2-BD59-A6C34878D82A}">
                    <a16:rowId xmlns:a16="http://schemas.microsoft.com/office/drawing/2014/main" val="2265362376"/>
                  </a:ext>
                </a:extLst>
              </a:tr>
              <a:tr h="501788">
                <a:tc>
                  <a:txBody>
                    <a:bodyPr/>
                    <a:lstStyle/>
                    <a:p>
                      <a:pPr marL="0" marR="0">
                        <a:lnSpc>
                          <a:spcPct val="115000"/>
                        </a:lnSpc>
                        <a:spcBef>
                          <a:spcPts val="0"/>
                        </a:spcBef>
                        <a:spcAft>
                          <a:spcPts val="0"/>
                        </a:spcAft>
                      </a:pPr>
                      <a:r>
                        <a:rPr lang="en-US" sz="1400" kern="100">
                          <a:effectLst/>
                          <a:highlight>
                            <a:srgbClr val="A9D08E"/>
                          </a:highlight>
                          <a:latin typeface="Times New Roman" panose="02020603050405020304" pitchFamily="18" charset="0"/>
                          <a:ea typeface="Tahoma" panose="020B0604030504040204" pitchFamily="34" charset="0"/>
                          <a:cs typeface="Times New Roman" panose="02020603050405020304" pitchFamily="18" charset="0"/>
                        </a:rPr>
                        <a:t>File Format</a:t>
                      </a:r>
                    </a:p>
                  </a:txBody>
                  <a:tcPr marL="22121" marR="22121" marT="0" marB="0"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Data is stored in Parquet format only.</a:t>
                      </a:r>
                    </a:p>
                  </a:txBody>
                  <a:tcPr marL="22121" marR="22121" marT="0" marB="0"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Supports multiple formats: JSON, AVRO, XML, PARQUET, ORC, CSV</a:t>
                      </a:r>
                    </a:p>
                  </a:txBody>
                  <a:tcPr marL="22121" marR="22121" marT="0" marB="0" anchor="b"/>
                </a:tc>
                <a:extLst>
                  <a:ext uri="{0D108BD9-81ED-4DB2-BD59-A6C34878D82A}">
                    <a16:rowId xmlns:a16="http://schemas.microsoft.com/office/drawing/2014/main" val="1759324106"/>
                  </a:ext>
                </a:extLst>
              </a:tr>
              <a:tr h="256105">
                <a:tc>
                  <a:txBody>
                    <a:bodyPr/>
                    <a:lstStyle/>
                    <a:p>
                      <a:pPr marL="0" marR="0">
                        <a:lnSpc>
                          <a:spcPct val="115000"/>
                        </a:lnSpc>
                        <a:spcBef>
                          <a:spcPts val="0"/>
                        </a:spcBef>
                        <a:spcAft>
                          <a:spcPts val="0"/>
                        </a:spcAft>
                      </a:pPr>
                      <a:r>
                        <a:rPr lang="en-US" sz="1400" kern="100">
                          <a:effectLst/>
                          <a:highlight>
                            <a:srgbClr val="A9D08E"/>
                          </a:highlight>
                          <a:latin typeface="Times New Roman" panose="02020603050405020304" pitchFamily="18" charset="0"/>
                          <a:ea typeface="Tahoma" panose="020B0604030504040204" pitchFamily="34" charset="0"/>
                          <a:cs typeface="Times New Roman" panose="02020603050405020304" pitchFamily="18" charset="0"/>
                        </a:rPr>
                        <a:t>Billing</a:t>
                      </a:r>
                    </a:p>
                  </a:txBody>
                  <a:tcPr marL="22121" marR="22121" marT="0" marB="0"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Storage billed by the cloud provider.</a:t>
                      </a:r>
                    </a:p>
                  </a:txBody>
                  <a:tcPr marL="22121" marR="22121" marT="0" marB="0"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Storage and usage billed by Snowflake.</a:t>
                      </a:r>
                    </a:p>
                  </a:txBody>
                  <a:tcPr marL="22121" marR="22121" marT="0" marB="0" anchor="b"/>
                </a:tc>
                <a:extLst>
                  <a:ext uri="{0D108BD9-81ED-4DB2-BD59-A6C34878D82A}">
                    <a16:rowId xmlns:a16="http://schemas.microsoft.com/office/drawing/2014/main" val="4205409530"/>
                  </a:ext>
                </a:extLst>
              </a:tr>
              <a:tr h="993156">
                <a:tc>
                  <a:txBody>
                    <a:bodyPr/>
                    <a:lstStyle/>
                    <a:p>
                      <a:pPr marL="0" marR="0">
                        <a:lnSpc>
                          <a:spcPct val="115000"/>
                        </a:lnSpc>
                        <a:spcBef>
                          <a:spcPts val="0"/>
                        </a:spcBef>
                        <a:spcAft>
                          <a:spcPts val="0"/>
                        </a:spcAft>
                      </a:pPr>
                      <a:r>
                        <a:rPr lang="en-US" sz="1400" kern="100">
                          <a:effectLst/>
                          <a:highlight>
                            <a:srgbClr val="A9D08E"/>
                          </a:highlight>
                          <a:latin typeface="Times New Roman" panose="02020603050405020304" pitchFamily="18" charset="0"/>
                          <a:ea typeface="Tahoma" panose="020B0604030504040204" pitchFamily="34" charset="0"/>
                          <a:cs typeface="Times New Roman" panose="02020603050405020304" pitchFamily="18" charset="0"/>
                        </a:rPr>
                        <a:t>Interoperability</a:t>
                      </a:r>
                    </a:p>
                  </a:txBody>
                  <a:tcPr marL="22121" marR="22121" marT="0" marB="0"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High interoperability with parquet-supporting tools; seamless integration with various data processing frameworks.</a:t>
                      </a:r>
                    </a:p>
                  </a:txBody>
                  <a:tcPr marL="22121" marR="22121" marT="0" marB="0"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Compatibility is dependent on Snowflake's support for various formats.</a:t>
                      </a:r>
                    </a:p>
                  </a:txBody>
                  <a:tcPr marL="22121" marR="22121" marT="0" marB="0" anchor="b"/>
                </a:tc>
                <a:extLst>
                  <a:ext uri="{0D108BD9-81ED-4DB2-BD59-A6C34878D82A}">
                    <a16:rowId xmlns:a16="http://schemas.microsoft.com/office/drawing/2014/main" val="1478579879"/>
                  </a:ext>
                </a:extLst>
              </a:tr>
              <a:tr h="747472">
                <a:tc>
                  <a:txBody>
                    <a:bodyPr/>
                    <a:lstStyle/>
                    <a:p>
                      <a:pPr marL="0" marR="0">
                        <a:lnSpc>
                          <a:spcPct val="115000"/>
                        </a:lnSpc>
                        <a:spcBef>
                          <a:spcPts val="0"/>
                        </a:spcBef>
                        <a:spcAft>
                          <a:spcPts val="0"/>
                        </a:spcAft>
                      </a:pPr>
                      <a:r>
                        <a:rPr lang="en-US" sz="1400" kern="100">
                          <a:effectLst/>
                          <a:highlight>
                            <a:srgbClr val="A9D08E"/>
                          </a:highlight>
                          <a:latin typeface="Times New Roman" panose="02020603050405020304" pitchFamily="18" charset="0"/>
                          <a:ea typeface="Tahoma" panose="020B0604030504040204" pitchFamily="34" charset="0"/>
                          <a:cs typeface="Times New Roman" panose="02020603050405020304" pitchFamily="18" charset="0"/>
                        </a:rPr>
                        <a:t>Storage</a:t>
                      </a:r>
                    </a:p>
                  </a:txBody>
                  <a:tcPr marL="22121" marR="22121" marT="0" marB="0"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Data stored in Customer-Supplied Cloud Storage (e.g., AWS S3, Azure Blob, GCP).</a:t>
                      </a:r>
                    </a:p>
                  </a:txBody>
                  <a:tcPr marL="22121" marR="22121" marT="0" marB="0"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Managed and stored within Snowflake's infrastructure.</a:t>
                      </a:r>
                    </a:p>
                  </a:txBody>
                  <a:tcPr marL="22121" marR="22121" marT="0" marB="0" anchor="b"/>
                </a:tc>
                <a:extLst>
                  <a:ext uri="{0D108BD9-81ED-4DB2-BD59-A6C34878D82A}">
                    <a16:rowId xmlns:a16="http://schemas.microsoft.com/office/drawing/2014/main" val="1616590998"/>
                  </a:ext>
                </a:extLst>
              </a:tr>
              <a:tr h="256105">
                <a:tc>
                  <a:txBody>
                    <a:bodyPr/>
                    <a:lstStyle/>
                    <a:p>
                      <a:pPr marL="0" marR="0">
                        <a:lnSpc>
                          <a:spcPct val="115000"/>
                        </a:lnSpc>
                        <a:spcBef>
                          <a:spcPts val="0"/>
                        </a:spcBef>
                        <a:spcAft>
                          <a:spcPts val="0"/>
                        </a:spcAft>
                      </a:pPr>
                      <a:r>
                        <a:rPr lang="en-US" sz="1400" kern="100">
                          <a:effectLst/>
                          <a:highlight>
                            <a:srgbClr val="A9D08E"/>
                          </a:highlight>
                          <a:latin typeface="Times New Roman" panose="02020603050405020304" pitchFamily="18" charset="0"/>
                          <a:ea typeface="Tahoma" panose="020B0604030504040204" pitchFamily="34" charset="0"/>
                          <a:cs typeface="Times New Roman" panose="02020603050405020304" pitchFamily="18" charset="0"/>
                        </a:rPr>
                        <a:t>Control</a:t>
                      </a:r>
                    </a:p>
                  </a:txBody>
                  <a:tcPr marL="22121" marR="22121" marT="0" marB="0" anchor="b"/>
                </a:tc>
                <a:tc>
                  <a:txBody>
                    <a:bodyPr/>
                    <a:lstStyle/>
                    <a:p>
                      <a:endParaRPr lang="en-US" sz="1400">
                        <a:latin typeface="Times New Roman" panose="02020603050405020304" pitchFamily="18" charset="0"/>
                        <a:ea typeface="Tahoma" panose="020B0604030504040204" pitchFamily="34" charset="0"/>
                        <a:cs typeface="Times New Roman" panose="02020603050405020304" pitchFamily="18" charset="0"/>
                      </a:endParaRPr>
                    </a:p>
                  </a:txBody>
                  <a:tcPr marL="22121" marR="22121" marT="0" marB="0" anchor="b"/>
                </a:tc>
                <a:tc>
                  <a:txBody>
                    <a:bodyPr/>
                    <a:lstStyle/>
                    <a:p>
                      <a:endParaRPr lang="en-US" sz="1400">
                        <a:latin typeface="Times New Roman" panose="02020603050405020304" pitchFamily="18" charset="0"/>
                        <a:ea typeface="Tahoma" panose="020B0604030504040204" pitchFamily="34" charset="0"/>
                        <a:cs typeface="Times New Roman" panose="02020603050405020304" pitchFamily="18" charset="0"/>
                      </a:endParaRPr>
                    </a:p>
                  </a:txBody>
                  <a:tcPr marL="29495" marR="29495" marT="14747" marB="14747"/>
                </a:tc>
                <a:extLst>
                  <a:ext uri="{0D108BD9-81ED-4DB2-BD59-A6C34878D82A}">
                    <a16:rowId xmlns:a16="http://schemas.microsoft.com/office/drawing/2014/main" val="1126274177"/>
                  </a:ext>
                </a:extLst>
              </a:tr>
              <a:tr h="753617">
                <a:tc>
                  <a:txBody>
                    <a:bodyPr/>
                    <a:lstStyle/>
                    <a:p>
                      <a:pPr>
                        <a:lnSpc>
                          <a:spcPct val="115000"/>
                        </a:lnSpc>
                      </a:pPr>
                      <a:endParaRPr lang="en-US" sz="1400" kern="100">
                        <a:effectLst/>
                        <a:latin typeface="Times New Roman" panose="02020603050405020304" pitchFamily="18" charset="0"/>
                        <a:ea typeface="Tahoma" panose="020B0604030504040204" pitchFamily="34" charset="0"/>
                        <a:cs typeface="Times New Roman" panose="02020603050405020304" pitchFamily="18" charset="0"/>
                      </a:endParaRPr>
                    </a:p>
                  </a:txBody>
                  <a:tcPr marL="3072" marR="3072" marT="3072" marB="3072"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Open Source; provides more flexibility and control over storage location and management.</a:t>
                      </a:r>
                    </a:p>
                  </a:txBody>
                  <a:tcPr marL="3072" marR="3072" marT="3072" marB="3072" anchor="b"/>
                </a:tc>
                <a:tc>
                  <a:txBody>
                    <a:bodyPr/>
                    <a:lstStyle/>
                    <a:p>
                      <a:pPr marL="0" marR="0">
                        <a:lnSpc>
                          <a:spcPct val="115000"/>
                        </a:lnSpc>
                        <a:spcBef>
                          <a:spcPts val="0"/>
                        </a:spcBef>
                        <a:spcAft>
                          <a:spcPts val="0"/>
                        </a:spcAft>
                      </a:pPr>
                      <a:r>
                        <a:rPr lang="en-US" sz="1400" kern="100">
                          <a:effectLst/>
                          <a:latin typeface="Times New Roman" panose="02020603050405020304" pitchFamily="18" charset="0"/>
                          <a:ea typeface="Tahoma" panose="020B0604030504040204" pitchFamily="34" charset="0"/>
                          <a:cs typeface="Times New Roman" panose="02020603050405020304" pitchFamily="18" charset="0"/>
                        </a:rPr>
                        <a:t>Less flexibility since Snowflake manages metadata and storage.</a:t>
                      </a:r>
                    </a:p>
                  </a:txBody>
                  <a:tcPr marL="22121" marR="22121" marT="0" marB="0" anchor="b"/>
                </a:tc>
                <a:extLst>
                  <a:ext uri="{0D108BD9-81ED-4DB2-BD59-A6C34878D82A}">
                    <a16:rowId xmlns:a16="http://schemas.microsoft.com/office/drawing/2014/main" val="1855504665"/>
                  </a:ext>
                </a:extLst>
              </a:tr>
            </a:tbl>
          </a:graphicData>
        </a:graphic>
      </p:graphicFrame>
    </p:spTree>
    <p:extLst>
      <p:ext uri="{BB962C8B-B14F-4D97-AF65-F5344CB8AC3E}">
        <p14:creationId xmlns:p14="http://schemas.microsoft.com/office/powerpoint/2010/main" val="2678985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D44D79-DE55-9EE5-CC06-E7490B3DBF20}"/>
              </a:ext>
            </a:extLst>
          </p:cNvPr>
          <p:cNvSpPr txBox="1"/>
          <p:nvPr/>
        </p:nvSpPr>
        <p:spPr>
          <a:xfrm>
            <a:off x="381811" y="398675"/>
            <a:ext cx="11077372" cy="5109091"/>
          </a:xfrm>
          <a:prstGeom prst="rect">
            <a:avLst/>
          </a:prstGeom>
          <a:noFill/>
        </p:spPr>
        <p:txBody>
          <a:bodyPr wrap="square">
            <a:spAutoFit/>
          </a:bodyPr>
          <a:lstStyle/>
          <a:p>
            <a:pPr marL="0" marR="0">
              <a:spcBef>
                <a:spcPts val="0"/>
              </a:spcBef>
              <a:spcAft>
                <a:spcPts val="0"/>
              </a:spcAft>
            </a:pPr>
            <a:r>
              <a:rPr lang="en-US" sz="2000" b="1" dirty="0">
                <a:solidFill>
                  <a:srgbClr val="000000"/>
                </a:solidFill>
                <a:effectLst/>
                <a:highlight>
                  <a:srgbClr val="FFFFFF"/>
                </a:highlight>
                <a:latin typeface="Times New Roman" panose="02020603050405020304" pitchFamily="18" charset="0"/>
                <a:ea typeface="Times New Roman" panose="02020603050405020304" pitchFamily="18" charset="0"/>
              </a:rPr>
              <a:t>Here's how this benefits you as a customer:</a:t>
            </a:r>
            <a:endParaRPr lang="en-US" sz="2000" dirty="0">
              <a:effectLst/>
              <a:highlight>
                <a:srgbClr val="FFFFFF"/>
              </a:highligh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highlight>
                  <a:srgbClr val="FFFFFF"/>
                </a:highlight>
                <a:latin typeface="Times New Roman" panose="02020603050405020304" pitchFamily="18" charset="0"/>
                <a:ea typeface="Times New Roman" panose="02020603050405020304" pitchFamily="18" charset="0"/>
              </a:rPr>
              <a:t> </a:t>
            </a:r>
            <a:endParaRPr lang="en-US" sz="2000" dirty="0">
              <a:effectLst/>
              <a:highlight>
                <a:srgbClr val="FFFFFF"/>
              </a:highligh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b="1" dirty="0">
                <a:solidFill>
                  <a:srgbClr val="000000"/>
                </a:solidFill>
                <a:effectLst/>
                <a:highlight>
                  <a:srgbClr val="FFFFFF"/>
                </a:highlight>
                <a:latin typeface="Times New Roman" panose="02020603050405020304" pitchFamily="18" charset="0"/>
                <a:ea typeface="Times New Roman" panose="02020603050405020304" pitchFamily="18" charset="0"/>
              </a:rPr>
              <a:t>Cost Optimization: </a:t>
            </a:r>
            <a:r>
              <a:rPr lang="en-US" sz="1800" dirty="0">
                <a:solidFill>
                  <a:srgbClr val="000000"/>
                </a:solidFill>
                <a:effectLst/>
                <a:highlight>
                  <a:srgbClr val="FFFFFF"/>
                </a:highlight>
                <a:latin typeface="Times New Roman" panose="02020603050405020304" pitchFamily="18" charset="0"/>
                <a:ea typeface="Times New Roman" panose="02020603050405020304" pitchFamily="18" charset="0"/>
              </a:rPr>
              <a:t>Data storage usage is billed directly by your cloud storage provider, while your Snowflake account is billed for compute and cloud services usage.</a:t>
            </a:r>
          </a:p>
          <a:p>
            <a:pPr marL="0" marR="0">
              <a:spcBef>
                <a:spcPts val="0"/>
              </a:spcBef>
              <a:spcAft>
                <a:spcPts val="0"/>
              </a:spcAft>
            </a:pPr>
            <a:endParaRPr lang="en-US" dirty="0">
              <a:solidFill>
                <a:srgbClr val="000000"/>
              </a:solidFill>
              <a:highlight>
                <a:srgbClr val="FFFFFF"/>
              </a:highligh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b="1" dirty="0">
                <a:solidFill>
                  <a:srgbClr val="1F1F1F"/>
                </a:solidFill>
                <a:effectLst/>
                <a:highlight>
                  <a:srgbClr val="FFFFFF"/>
                </a:highlight>
                <a:latin typeface="Times New Roman" panose="02020603050405020304" pitchFamily="18" charset="0"/>
                <a:ea typeface="Times New Roman" panose="02020603050405020304" pitchFamily="18" charset="0"/>
              </a:rPr>
              <a:t>Table Metadata in Iceberg Format:</a:t>
            </a:r>
            <a:r>
              <a:rPr lang="en-US" sz="1800" dirty="0">
                <a:solidFill>
                  <a:srgbClr val="1F1F1F"/>
                </a:solidFill>
                <a:effectLst/>
                <a:highlight>
                  <a:srgbClr val="FFFFFF"/>
                </a:highlight>
                <a:latin typeface="Times New Roman" panose="02020603050405020304" pitchFamily="18" charset="0"/>
                <a:ea typeface="Times New Roman" panose="02020603050405020304" pitchFamily="18" charset="0"/>
              </a:rPr>
              <a:t> Store data in Parquet format, a widely adopted and efficient columnar storage format. Parquet's columnar storage and compression make it ideal for efficient data storage and processing.</a:t>
            </a:r>
            <a:endParaRPr lang="en-US" sz="1800" dirty="0">
              <a:effectLst/>
              <a:highlight>
                <a:srgbClr val="FFFFFF"/>
              </a:highligh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solidFill>
                  <a:srgbClr val="000000"/>
                </a:solidFill>
                <a:effectLst/>
                <a:highlight>
                  <a:srgbClr val="FFFFFF"/>
                </a:highlight>
                <a:latin typeface="Times New Roman" panose="02020603050405020304" pitchFamily="18" charset="0"/>
                <a:ea typeface="Times New Roman" panose="02020603050405020304" pitchFamily="18" charset="0"/>
              </a:rPr>
              <a:t> </a:t>
            </a:r>
            <a:endParaRPr lang="en-US" sz="1800" dirty="0">
              <a:effectLst/>
              <a:highlight>
                <a:srgbClr val="FFFFFF"/>
              </a:highlight>
              <a:latin typeface="Times New Roman" panose="02020603050405020304" pitchFamily="18" charset="0"/>
              <a:ea typeface="Times New Roman" panose="02020603050405020304" pitchFamily="18" charset="0"/>
            </a:endParaRPr>
          </a:p>
          <a:p>
            <a:r>
              <a:rPr lang="en-US" sz="1800" b="1" dirty="0">
                <a:solidFill>
                  <a:srgbClr val="000000"/>
                </a:solidFill>
                <a:effectLst/>
                <a:latin typeface="Aptos" panose="020B0004020202020204" pitchFamily="34" charset="0"/>
                <a:ea typeface="Aptos" panose="020B0004020202020204" pitchFamily="34" charset="0"/>
                <a:cs typeface="Mangal" panose="02040503050203030202" pitchFamily="18" charset="0"/>
              </a:rPr>
              <a:t>Multi-Engine Compatibility:</a:t>
            </a:r>
            <a:r>
              <a:rPr lang="en-US" sz="1800" dirty="0">
                <a:solidFill>
                  <a:srgbClr val="000000"/>
                </a:solidFill>
                <a:effectLst/>
                <a:latin typeface="Aptos" panose="020B0004020202020204" pitchFamily="34" charset="0"/>
                <a:ea typeface="Aptos" panose="020B0004020202020204" pitchFamily="34" charset="0"/>
                <a:cs typeface="Mangal" panose="02040503050203030202" pitchFamily="18" charset="0"/>
              </a:rPr>
              <a:t> You desire Snowflake to handle table management tasks such as inserts, updates, and more, allowing queries within Snowflake</a:t>
            </a:r>
            <a:endParaRPr lang="en-US" sz="1800" dirty="0">
              <a:solidFill>
                <a:srgbClr val="000000"/>
              </a:solidFill>
              <a:effectLst/>
              <a:highlight>
                <a:srgbClr val="FFFFFF"/>
              </a:highlight>
              <a:latin typeface="Times New Roman" panose="02020603050405020304" pitchFamily="18" charset="0"/>
              <a:ea typeface="Aptos" panose="020B0004020202020204" pitchFamily="34" charset="0"/>
              <a:cs typeface="Mangal" panose="02040503050203030202" pitchFamily="18" charset="0"/>
            </a:endParaRPr>
          </a:p>
          <a:p>
            <a:endParaRPr lang="en-US" dirty="0">
              <a:solidFill>
                <a:srgbClr val="000000"/>
              </a:solidFill>
              <a:highlight>
                <a:srgbClr val="FFFFFF"/>
              </a:highlight>
              <a:latin typeface="Times New Roman" panose="02020603050405020304" pitchFamily="18" charset="0"/>
              <a:ea typeface="Times New Roman" panose="02020603050405020304" pitchFamily="18" charset="0"/>
              <a:cs typeface="Mangal" panose="02040503050203030202" pitchFamily="18" charset="0"/>
            </a:endParaRPr>
          </a:p>
          <a:p>
            <a:r>
              <a:rPr lang="en-US" sz="1800" b="1" kern="0" dirty="0">
                <a:solidFill>
                  <a:srgbClr val="1F1F1F"/>
                </a:solidFill>
                <a:effectLst/>
                <a:latin typeface="Times New Roman" panose="02020603050405020304" pitchFamily="18" charset="0"/>
                <a:ea typeface="Times New Roman" panose="02020603050405020304" pitchFamily="18" charset="0"/>
              </a:rPr>
              <a:t>Performance without Compromise:</a:t>
            </a:r>
            <a:r>
              <a:rPr lang="en-US" sz="1800" kern="0" dirty="0">
                <a:solidFill>
                  <a:srgbClr val="1F1F1F"/>
                </a:solidFill>
                <a:effectLst/>
                <a:latin typeface="Times New Roman" panose="02020603050405020304" pitchFamily="18" charset="0"/>
                <a:ea typeface="Times New Roman" panose="02020603050405020304" pitchFamily="18" charset="0"/>
              </a:rPr>
              <a:t> Snowflake Iceberg maintains exceptional query performance similar to Snowflake tables, ensuring efficient data analysis</a:t>
            </a:r>
            <a:endParaRPr lang="en-US" sz="1800" kern="0" dirty="0">
              <a:solidFill>
                <a:srgbClr val="000000"/>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endParaRPr>
          </a:p>
          <a:p>
            <a:endParaRPr lang="en-US" kern="0" dirty="0">
              <a:solidFill>
                <a:srgbClr val="000000"/>
              </a:solidFill>
              <a:highlight>
                <a:srgbClr val="FFFFFF"/>
              </a:highlight>
              <a:latin typeface="Times New Roman" panose="02020603050405020304" pitchFamily="18" charset="0"/>
              <a:ea typeface="Times New Roman" panose="02020603050405020304" pitchFamily="18" charset="0"/>
              <a:cs typeface="Mangal" panose="02040503050203030202" pitchFamily="18" charset="0"/>
            </a:endParaRPr>
          </a:p>
          <a:p>
            <a:r>
              <a:rPr lang="en-US" sz="1800" b="1" dirty="0">
                <a:solidFill>
                  <a:srgbClr val="000000"/>
                </a:solidFill>
                <a:effectLst/>
                <a:latin typeface="Aptos" panose="020B0004020202020204" pitchFamily="34" charset="0"/>
                <a:ea typeface="Aptos" panose="020B0004020202020204" pitchFamily="34" charset="0"/>
                <a:cs typeface="Mangal" panose="02040503050203030202" pitchFamily="18" charset="0"/>
              </a:rPr>
              <a:t>Unlock Discounts:</a:t>
            </a:r>
            <a:r>
              <a:rPr lang="en-US" sz="1800" dirty="0">
                <a:solidFill>
                  <a:srgbClr val="000000"/>
                </a:solidFill>
                <a:effectLst/>
                <a:latin typeface="Aptos" panose="020B0004020202020204" pitchFamily="34" charset="0"/>
                <a:ea typeface="Aptos" panose="020B0004020202020204" pitchFamily="34" charset="0"/>
                <a:cs typeface="Mangal" panose="02040503050203030202" pitchFamily="18" charset="0"/>
              </a:rPr>
              <a:t> Optimize Costs with Custom Storage Pricing: As a substantial cloud customer, you likely benefit from significant storage discounts owing to extensive datasets, often spanning petabytes</a:t>
            </a:r>
            <a:endParaRPr lang="en-US" sz="1800" kern="0" dirty="0">
              <a:solidFill>
                <a:srgbClr val="000000"/>
              </a:solidFill>
              <a:effectLst/>
              <a:highlight>
                <a:srgbClr val="FFFFFF"/>
              </a:highlight>
              <a:latin typeface="Times New Roman" panose="02020603050405020304" pitchFamily="18" charset="0"/>
              <a:ea typeface="Aptos" panose="020B0004020202020204" pitchFamily="34" charset="0"/>
              <a:cs typeface="Mangal" panose="02040503050203030202" pitchFamily="18" charset="0"/>
            </a:endParaRPr>
          </a:p>
          <a:p>
            <a:r>
              <a:rPr lang="en-US" sz="1800" dirty="0">
                <a:solidFill>
                  <a:srgbClr val="000000"/>
                </a:solidFill>
                <a:effectLst/>
                <a:latin typeface="Aptos" panose="020B0004020202020204" pitchFamily="34" charset="0"/>
                <a:ea typeface="Aptos" panose="020B0004020202020204" pitchFamily="34" charset="0"/>
                <a:cs typeface="Mangal" panose="02040503050203030202" pitchFamily="18" charset="0"/>
              </a:rPr>
              <a:t>This approach can lead to even greater cost savings compared to storing data in Snowflake's native compressed tables, which typically incur a standard charge of $23 per compressed terabyte per month</a:t>
            </a:r>
            <a:endParaRPr lang="en-US" sz="2000" dirty="0">
              <a:effectLst/>
              <a:highlight>
                <a:srgbClr val="FFFFFF"/>
              </a:highligh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12891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D790A0-C80D-21A6-4773-242111D1353D}"/>
              </a:ext>
            </a:extLst>
          </p:cNvPr>
          <p:cNvSpPr txBox="1"/>
          <p:nvPr/>
        </p:nvSpPr>
        <p:spPr>
          <a:xfrm>
            <a:off x="663912" y="759624"/>
            <a:ext cx="10425620" cy="3150158"/>
          </a:xfrm>
          <a:prstGeom prst="rect">
            <a:avLst/>
          </a:prstGeom>
          <a:noFill/>
        </p:spPr>
        <p:txBody>
          <a:bodyPr wrap="square">
            <a:spAutoFit/>
          </a:bodyPr>
          <a:lstStyle/>
          <a:p>
            <a:pPr marL="0" marR="0">
              <a:lnSpc>
                <a:spcPct val="115000"/>
              </a:lnSpc>
              <a:spcBef>
                <a:spcPts val="0"/>
              </a:spcBef>
              <a:spcAft>
                <a:spcPts val="800"/>
              </a:spcAft>
            </a:pPr>
            <a:r>
              <a:rPr lang="en-US" sz="2400" b="1" kern="0" dirty="0">
                <a:solidFill>
                  <a:srgbClr val="1F1F1F"/>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rPr>
              <a:t>Snowflake Iceberg Capabilities</a:t>
            </a:r>
            <a:endParaRPr lang="en-US" sz="2000" kern="100" dirty="0">
              <a:effectLst/>
              <a:highlight>
                <a:srgbClr val="FFFFFF"/>
              </a:highlight>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kern="0" dirty="0">
                <a:solidFill>
                  <a:srgbClr val="1F1F1F"/>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Full DML support:</a:t>
            </a:r>
            <a:r>
              <a:rPr lang="en-US" sz="1800" kern="0" dirty="0">
                <a:solidFill>
                  <a:srgbClr val="1F1F1F"/>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 Perform data manipulation operations (insert, update, delete) with no performance penalty compared to native Snowflake tables.</a:t>
            </a:r>
            <a:endParaRPr lang="en-US" sz="2000" kern="100" dirty="0">
              <a:solidFill>
                <a:srgbClr val="1F1F1F"/>
              </a:solidFill>
              <a:effectLst/>
              <a:highlight>
                <a:srgbClr val="FFFFFF"/>
              </a:highlight>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kern="0" dirty="0">
                <a:solidFill>
                  <a:srgbClr val="1F1F1F"/>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Advanced Features:</a:t>
            </a:r>
            <a:r>
              <a:rPr lang="en-US" sz="1800" kern="0" dirty="0">
                <a:solidFill>
                  <a:srgbClr val="1F1F1F"/>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 Leverage features like multi-table transactions and dynamic data masking, ensuring data integrity and security.</a:t>
            </a:r>
            <a:endParaRPr lang="en-US" sz="2000" kern="100" dirty="0">
              <a:solidFill>
                <a:srgbClr val="1F1F1F"/>
              </a:solidFill>
              <a:effectLst/>
              <a:highlight>
                <a:srgbClr val="FFFFFF"/>
              </a:highlight>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kern="0" dirty="0">
                <a:solidFill>
                  <a:srgbClr val="1F1F1F"/>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Row-Level Security:</a:t>
            </a:r>
            <a:r>
              <a:rPr lang="en-US" sz="1800" kern="0" dirty="0">
                <a:solidFill>
                  <a:srgbClr val="1F1F1F"/>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 Apply row-level security policies to control data access based on user roles or attributes, similar to native Snowflake tables.</a:t>
            </a:r>
            <a:endParaRPr lang="en-US" sz="2000" kern="100" dirty="0">
              <a:solidFill>
                <a:srgbClr val="1F1F1F"/>
              </a:solidFill>
              <a:effectLst/>
              <a:highlight>
                <a:srgbClr val="FFFFFF"/>
              </a:highlight>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kern="0" dirty="0">
                <a:solidFill>
                  <a:srgbClr val="1F1F1F"/>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External Data Utilization:</a:t>
            </a:r>
            <a:r>
              <a:rPr lang="en-US" sz="1800" kern="0" dirty="0">
                <a:solidFill>
                  <a:srgbClr val="1F1F1F"/>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 Iceberg data stored in customer-managed storage can be accessed and utilized by external applications and tools outside the Snowflake environment.</a:t>
            </a:r>
            <a:endParaRPr lang="en-US" sz="2000" kern="100" dirty="0">
              <a:solidFill>
                <a:srgbClr val="1F1F1F"/>
              </a:solidFill>
              <a:effectLst/>
              <a:highlight>
                <a:srgbClr val="FFFFFF"/>
              </a:highlight>
              <a:latin typeface="Aptos" panose="020B0004020202020204" pitchFamily="34" charset="0"/>
              <a:ea typeface="Aptos" panose="020B0004020202020204" pitchFamily="34" charset="0"/>
              <a:cs typeface="Mangal" panose="02040503050203030202" pitchFamily="18" charset="0"/>
            </a:endParaRPr>
          </a:p>
        </p:txBody>
      </p:sp>
    </p:spTree>
    <p:extLst>
      <p:ext uri="{BB962C8B-B14F-4D97-AF65-F5344CB8AC3E}">
        <p14:creationId xmlns:p14="http://schemas.microsoft.com/office/powerpoint/2010/main" val="3584735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1CFF08B5-919B-36B2-6E2C-721774B55D76}"/>
              </a:ext>
            </a:extLst>
          </p:cNvPr>
          <p:cNvPicPr>
            <a:picLocks noChangeAspect="1"/>
          </p:cNvPicPr>
          <p:nvPr/>
        </p:nvPicPr>
        <p:blipFill>
          <a:blip r:embed="rId2"/>
          <a:stretch>
            <a:fillRect/>
          </a:stretch>
        </p:blipFill>
        <p:spPr>
          <a:xfrm>
            <a:off x="6332973" y="712637"/>
            <a:ext cx="3847376" cy="4468963"/>
          </a:xfrm>
          <a:prstGeom prst="rect">
            <a:avLst/>
          </a:prstGeom>
        </p:spPr>
      </p:pic>
      <p:pic>
        <p:nvPicPr>
          <p:cNvPr id="5" name="Picture 4" descr="A diagram of a data processing process&#10;&#10;Description automatically generated">
            <a:extLst>
              <a:ext uri="{FF2B5EF4-FFF2-40B4-BE49-F238E27FC236}">
                <a16:creationId xmlns:a16="http://schemas.microsoft.com/office/drawing/2014/main" id="{44C1964A-4273-7A49-2D54-84ACC3AF9C8D}"/>
              </a:ext>
            </a:extLst>
          </p:cNvPr>
          <p:cNvPicPr>
            <a:picLocks noChangeAspect="1"/>
          </p:cNvPicPr>
          <p:nvPr/>
        </p:nvPicPr>
        <p:blipFill>
          <a:blip r:embed="rId3"/>
          <a:stretch>
            <a:fillRect/>
          </a:stretch>
        </p:blipFill>
        <p:spPr>
          <a:xfrm>
            <a:off x="1935450" y="1046994"/>
            <a:ext cx="3480798" cy="3687226"/>
          </a:xfrm>
          <a:prstGeom prst="rect">
            <a:avLst/>
          </a:prstGeom>
        </p:spPr>
      </p:pic>
      <p:pic>
        <p:nvPicPr>
          <p:cNvPr id="7" name="Picture 6">
            <a:extLst>
              <a:ext uri="{FF2B5EF4-FFF2-40B4-BE49-F238E27FC236}">
                <a16:creationId xmlns:a16="http://schemas.microsoft.com/office/drawing/2014/main" id="{162B3952-563F-2449-4E21-BACC88600ACE}"/>
              </a:ext>
            </a:extLst>
          </p:cNvPr>
          <p:cNvPicPr>
            <a:picLocks noChangeAspect="1"/>
          </p:cNvPicPr>
          <p:nvPr/>
        </p:nvPicPr>
        <p:blipFill>
          <a:blip r:embed="rId4"/>
          <a:stretch>
            <a:fillRect/>
          </a:stretch>
        </p:blipFill>
        <p:spPr>
          <a:xfrm>
            <a:off x="3155330" y="228600"/>
            <a:ext cx="4669537" cy="484037"/>
          </a:xfrm>
          <a:prstGeom prst="rect">
            <a:avLst/>
          </a:prstGeom>
        </p:spPr>
      </p:pic>
    </p:spTree>
    <p:extLst>
      <p:ext uri="{BB962C8B-B14F-4D97-AF65-F5344CB8AC3E}">
        <p14:creationId xmlns:p14="http://schemas.microsoft.com/office/powerpoint/2010/main" val="3154889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Picture 60">
            <a:extLst>
              <a:ext uri="{FF2B5EF4-FFF2-40B4-BE49-F238E27FC236}">
                <a16:creationId xmlns:a16="http://schemas.microsoft.com/office/drawing/2014/main" id="{E6258746-05DE-90CD-FFCC-A41AC3E9B52B}"/>
              </a:ext>
            </a:extLst>
          </p:cNvPr>
          <p:cNvPicPr>
            <a:picLocks noChangeAspect="1"/>
          </p:cNvPicPr>
          <p:nvPr/>
        </p:nvPicPr>
        <p:blipFill>
          <a:blip r:embed="rId2">
            <a:alphaModFix amt="35000"/>
          </a:blip>
          <a:srcRect t="4205" b="11526"/>
          <a:stretch/>
        </p:blipFill>
        <p:spPr>
          <a:xfrm>
            <a:off x="20" y="10"/>
            <a:ext cx="12191980" cy="6857990"/>
          </a:xfrm>
          <a:prstGeom prst="rect">
            <a:avLst/>
          </a:prstGeom>
        </p:spPr>
      </p:pic>
      <p:graphicFrame>
        <p:nvGraphicFramePr>
          <p:cNvPr id="18" name="TextBox 2">
            <a:extLst>
              <a:ext uri="{FF2B5EF4-FFF2-40B4-BE49-F238E27FC236}">
                <a16:creationId xmlns:a16="http://schemas.microsoft.com/office/drawing/2014/main" id="{7ABDDCD4-A4D1-8E23-0EC3-941665508C10}"/>
              </a:ext>
            </a:extLst>
          </p:cNvPr>
          <p:cNvGraphicFramePr/>
          <p:nvPr>
            <p:extLst>
              <p:ext uri="{D42A27DB-BD31-4B8C-83A1-F6EECF244321}">
                <p14:modId xmlns:p14="http://schemas.microsoft.com/office/powerpoint/2010/main" val="207003573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64274806"/>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TextBox 2">
            <a:extLst>
              <a:ext uri="{FF2B5EF4-FFF2-40B4-BE49-F238E27FC236}">
                <a16:creationId xmlns:a16="http://schemas.microsoft.com/office/drawing/2014/main" id="{4ACD9DB9-D43E-4526-67CB-D409D4FB2F4F}"/>
              </a:ext>
            </a:extLst>
          </p:cNvPr>
          <p:cNvGraphicFramePr/>
          <p:nvPr>
            <p:extLst>
              <p:ext uri="{D42A27DB-BD31-4B8C-83A1-F6EECF244321}">
                <p14:modId xmlns:p14="http://schemas.microsoft.com/office/powerpoint/2010/main" val="285324181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0664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70E927-78FE-5388-DB79-D1C7AC584A03}"/>
              </a:ext>
            </a:extLst>
          </p:cNvPr>
          <p:cNvPicPr>
            <a:picLocks noChangeAspect="1"/>
          </p:cNvPicPr>
          <p:nvPr/>
        </p:nvPicPr>
        <p:blipFill>
          <a:blip r:embed="rId2"/>
          <a:stretch>
            <a:fillRect/>
          </a:stretch>
        </p:blipFill>
        <p:spPr>
          <a:xfrm>
            <a:off x="1128409" y="1370881"/>
            <a:ext cx="8998085" cy="2555225"/>
          </a:xfrm>
          <a:prstGeom prst="rect">
            <a:avLst/>
          </a:prstGeom>
        </p:spPr>
      </p:pic>
      <p:sp>
        <p:nvSpPr>
          <p:cNvPr id="5" name="TextBox 4">
            <a:extLst>
              <a:ext uri="{FF2B5EF4-FFF2-40B4-BE49-F238E27FC236}">
                <a16:creationId xmlns:a16="http://schemas.microsoft.com/office/drawing/2014/main" id="{3CBA78AE-D5D7-FBC5-DCBA-027F8F7A3F7F}"/>
              </a:ext>
            </a:extLst>
          </p:cNvPr>
          <p:cNvSpPr txBox="1"/>
          <p:nvPr/>
        </p:nvSpPr>
        <p:spPr>
          <a:xfrm>
            <a:off x="955742" y="355218"/>
            <a:ext cx="6094378" cy="369332"/>
          </a:xfrm>
          <a:prstGeom prst="rect">
            <a:avLst/>
          </a:prstGeom>
          <a:noFill/>
        </p:spPr>
        <p:txBody>
          <a:bodyPr wrap="square">
            <a:spAutoFit/>
          </a:bodyPr>
          <a:lstStyle/>
          <a:p>
            <a:r>
              <a:rPr lang="en-US" dirty="0"/>
              <a:t>https://konbert.com/viewer/avro</a:t>
            </a:r>
          </a:p>
        </p:txBody>
      </p:sp>
      <p:sp>
        <p:nvSpPr>
          <p:cNvPr id="7" name="TextBox 6">
            <a:extLst>
              <a:ext uri="{FF2B5EF4-FFF2-40B4-BE49-F238E27FC236}">
                <a16:creationId xmlns:a16="http://schemas.microsoft.com/office/drawing/2014/main" id="{9EDEE97B-6ACC-C52B-1FAB-8C575E386B39}"/>
              </a:ext>
            </a:extLst>
          </p:cNvPr>
          <p:cNvSpPr txBox="1"/>
          <p:nvPr/>
        </p:nvSpPr>
        <p:spPr>
          <a:xfrm>
            <a:off x="228599" y="674217"/>
            <a:ext cx="11734799" cy="369332"/>
          </a:xfrm>
          <a:prstGeom prst="rect">
            <a:avLst/>
          </a:prstGeom>
          <a:noFill/>
        </p:spPr>
        <p:txBody>
          <a:bodyPr wrap="square">
            <a:spAutoFit/>
          </a:bodyPr>
          <a:lstStyle/>
          <a:p>
            <a:r>
              <a:rPr lang="en-US" b="0" i="0" dirty="0">
                <a:solidFill>
                  <a:srgbClr val="A692E0"/>
                </a:solidFill>
                <a:effectLst/>
                <a:latin typeface="Inter"/>
              </a:rPr>
              <a:t>1721632536101000000-5SBmD7P6jqwnf-a3Cj31ow.avro</a:t>
            </a:r>
          </a:p>
        </p:txBody>
      </p:sp>
      <p:sp>
        <p:nvSpPr>
          <p:cNvPr id="9" name="TextBox 8">
            <a:extLst>
              <a:ext uri="{FF2B5EF4-FFF2-40B4-BE49-F238E27FC236}">
                <a16:creationId xmlns:a16="http://schemas.microsoft.com/office/drawing/2014/main" id="{0DDF8828-0D85-AF25-0150-15E56256940E}"/>
              </a:ext>
            </a:extLst>
          </p:cNvPr>
          <p:cNvSpPr txBox="1"/>
          <p:nvPr/>
        </p:nvSpPr>
        <p:spPr>
          <a:xfrm>
            <a:off x="228599" y="4051707"/>
            <a:ext cx="11734799" cy="861774"/>
          </a:xfrm>
          <a:prstGeom prst="rect">
            <a:avLst/>
          </a:prstGeom>
          <a:noFill/>
        </p:spPr>
        <p:txBody>
          <a:bodyPr wrap="square">
            <a:spAutoFit/>
          </a:bodyPr>
          <a:lstStyle/>
          <a:p>
            <a:r>
              <a:rPr lang="en-US" b="0" i="0" dirty="0">
                <a:solidFill>
                  <a:srgbClr val="A692E0"/>
                </a:solidFill>
                <a:effectLst/>
                <a:latin typeface="Inter"/>
              </a:rPr>
              <a:t>snap-1721632536101000000-723adc31-5973-44f0-a3a7-cc875010786b.avro</a:t>
            </a:r>
          </a:p>
          <a:p>
            <a:r>
              <a:rPr lang="en-US" sz="1400" b="0" i="0" dirty="0">
                <a:solidFill>
                  <a:srgbClr val="222222"/>
                </a:solidFill>
                <a:effectLst/>
                <a:highlight>
                  <a:srgbClr val="FFFFFF"/>
                </a:highlight>
                <a:latin typeface="Times New Roman" panose="02020603050405020304" pitchFamily="18" charset="0"/>
                <a:cs typeface="Times New Roman" panose="02020603050405020304" pitchFamily="18" charset="0"/>
              </a:rPr>
              <a:t>Manifest List file in Avro format that stores details about manifest files</a:t>
            </a:r>
            <a:endParaRPr lang="en-US" sz="1400" dirty="0">
              <a:latin typeface="Times New Roman" panose="02020603050405020304" pitchFamily="18" charset="0"/>
              <a:cs typeface="Times New Roman" panose="02020603050405020304" pitchFamily="18" charset="0"/>
            </a:endParaRPr>
          </a:p>
          <a:p>
            <a:endParaRPr lang="en-US" b="0" i="0" dirty="0">
              <a:solidFill>
                <a:srgbClr val="A692E0"/>
              </a:solidFill>
              <a:effectLst/>
              <a:latin typeface="Inter"/>
            </a:endParaRPr>
          </a:p>
        </p:txBody>
      </p:sp>
      <p:pic>
        <p:nvPicPr>
          <p:cNvPr id="11" name="Picture 10">
            <a:extLst>
              <a:ext uri="{FF2B5EF4-FFF2-40B4-BE49-F238E27FC236}">
                <a16:creationId xmlns:a16="http://schemas.microsoft.com/office/drawing/2014/main" id="{7109F07F-4CC2-F132-E184-C48EEC6C926A}"/>
              </a:ext>
            </a:extLst>
          </p:cNvPr>
          <p:cNvPicPr>
            <a:picLocks noChangeAspect="1"/>
          </p:cNvPicPr>
          <p:nvPr/>
        </p:nvPicPr>
        <p:blipFill>
          <a:blip r:embed="rId3"/>
          <a:stretch>
            <a:fillRect/>
          </a:stretch>
        </p:blipFill>
        <p:spPr>
          <a:xfrm>
            <a:off x="457200" y="4706371"/>
            <a:ext cx="10506685" cy="1347011"/>
          </a:xfrm>
          <a:prstGeom prst="rect">
            <a:avLst/>
          </a:prstGeom>
        </p:spPr>
      </p:pic>
      <p:pic>
        <p:nvPicPr>
          <p:cNvPr id="13" name="Picture 12">
            <a:extLst>
              <a:ext uri="{FF2B5EF4-FFF2-40B4-BE49-F238E27FC236}">
                <a16:creationId xmlns:a16="http://schemas.microsoft.com/office/drawing/2014/main" id="{4A7ECAD0-D572-3A4B-BA15-84DE41EBC692}"/>
              </a:ext>
            </a:extLst>
          </p:cNvPr>
          <p:cNvPicPr>
            <a:picLocks noChangeAspect="1"/>
          </p:cNvPicPr>
          <p:nvPr/>
        </p:nvPicPr>
        <p:blipFill>
          <a:blip r:embed="rId4"/>
          <a:stretch>
            <a:fillRect/>
          </a:stretch>
        </p:blipFill>
        <p:spPr>
          <a:xfrm>
            <a:off x="614057" y="5808971"/>
            <a:ext cx="10963885" cy="790722"/>
          </a:xfrm>
          <a:prstGeom prst="rect">
            <a:avLst/>
          </a:prstGeom>
        </p:spPr>
      </p:pic>
      <p:sp>
        <p:nvSpPr>
          <p:cNvPr id="17" name="TextBox 16">
            <a:extLst>
              <a:ext uri="{FF2B5EF4-FFF2-40B4-BE49-F238E27FC236}">
                <a16:creationId xmlns:a16="http://schemas.microsoft.com/office/drawing/2014/main" id="{F038B2AC-4537-B945-5DAC-0CE117FDF3E3}"/>
              </a:ext>
            </a:extLst>
          </p:cNvPr>
          <p:cNvSpPr txBox="1"/>
          <p:nvPr/>
        </p:nvSpPr>
        <p:spPr>
          <a:xfrm>
            <a:off x="457200" y="922114"/>
            <a:ext cx="11120742" cy="307777"/>
          </a:xfrm>
          <a:prstGeom prst="rect">
            <a:avLst/>
          </a:prstGeom>
          <a:noFill/>
        </p:spPr>
        <p:txBody>
          <a:bodyPr wrap="square">
            <a:spAutoFit/>
          </a:bodyPr>
          <a:lstStyle/>
          <a:p>
            <a:r>
              <a:rPr lang="en-US" sz="1400" b="0" i="0" dirty="0">
                <a:solidFill>
                  <a:srgbClr val="222222"/>
                </a:solidFill>
                <a:effectLst/>
                <a:highlight>
                  <a:srgbClr val="FFFFFF"/>
                </a:highlight>
                <a:latin typeface="Times New Roman" panose="02020603050405020304" pitchFamily="18" charset="0"/>
                <a:cs typeface="Times New Roman" panose="02020603050405020304" pitchFamily="18" charset="0"/>
              </a:rPr>
              <a:t>Manifest file in Avro format that contains a list of data files present in the data folder</a:t>
            </a:r>
            <a:endParaRPr lang="en-US"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F87270E-D7A5-60E9-F9AA-178511C93105}"/>
              </a:ext>
            </a:extLst>
          </p:cNvPr>
          <p:cNvSpPr txBox="1"/>
          <p:nvPr/>
        </p:nvSpPr>
        <p:spPr>
          <a:xfrm>
            <a:off x="3716592" y="2496191"/>
            <a:ext cx="6892413" cy="1492716"/>
          </a:xfrm>
          <a:prstGeom prst="rect">
            <a:avLst/>
          </a:prstGeom>
          <a:noFill/>
        </p:spPr>
        <p:txBody>
          <a:bodyPr wrap="square">
            <a:spAutoFit/>
          </a:bodyPr>
          <a:lstStyle/>
          <a:p>
            <a:r>
              <a:rPr lang="en-US" sz="1300" b="1" dirty="0">
                <a:latin typeface="Times New Roman" panose="02020603050405020304" pitchFamily="18" charset="0"/>
                <a:cs typeface="Times New Roman" panose="02020603050405020304" pitchFamily="18" charset="0"/>
              </a:rPr>
              <a:t>This file (1753548628877000000-...</a:t>
            </a:r>
            <a:r>
              <a:rPr lang="en-US" sz="1300" b="1" dirty="0" err="1">
                <a:latin typeface="Times New Roman" panose="02020603050405020304" pitchFamily="18" charset="0"/>
                <a:cs typeface="Times New Roman" panose="02020603050405020304" pitchFamily="18" charset="0"/>
              </a:rPr>
              <a:t>avro</a:t>
            </a:r>
            <a:r>
              <a:rPr lang="en-US" sz="1300" b="1" dirty="0">
                <a:latin typeface="Times New Roman" panose="02020603050405020304" pitchFamily="18" charset="0"/>
                <a:cs typeface="Times New Roman" panose="02020603050405020304" pitchFamily="18" charset="0"/>
              </a:rPr>
              <a:t>) is a manifest, which contains file-level metadata.</a:t>
            </a:r>
          </a:p>
          <a:p>
            <a:endParaRPr lang="en-US" sz="1300" b="1"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It tells Iceberg:</a:t>
            </a:r>
          </a:p>
          <a:p>
            <a:endParaRPr lang="en-US" sz="1300" b="1"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Where the actual data files are (e.g., Parquet/ORC files)</a:t>
            </a:r>
          </a:p>
          <a:p>
            <a:r>
              <a:rPr lang="en-US" sz="1300" b="1" dirty="0">
                <a:latin typeface="Times New Roman" panose="02020603050405020304" pitchFamily="18" charset="0"/>
                <a:cs typeface="Times New Roman" panose="02020603050405020304" pitchFamily="18" charset="0"/>
              </a:rPr>
              <a:t>What partitions each file covers</a:t>
            </a:r>
          </a:p>
          <a:p>
            <a:r>
              <a:rPr lang="en-US" sz="1300" b="1" dirty="0">
                <a:latin typeface="Times New Roman" panose="02020603050405020304" pitchFamily="18" charset="0"/>
                <a:cs typeface="Times New Roman" panose="02020603050405020304" pitchFamily="18" charset="0"/>
              </a:rPr>
              <a:t>The row count, min/max values, null counts per column</a:t>
            </a:r>
          </a:p>
        </p:txBody>
      </p:sp>
      <p:sp>
        <p:nvSpPr>
          <p:cNvPr id="12" name="TextBox 11">
            <a:extLst>
              <a:ext uri="{FF2B5EF4-FFF2-40B4-BE49-F238E27FC236}">
                <a16:creationId xmlns:a16="http://schemas.microsoft.com/office/drawing/2014/main" id="{D0B4DD56-2F14-8993-2075-FD60D017E927}"/>
              </a:ext>
            </a:extLst>
          </p:cNvPr>
          <p:cNvSpPr txBox="1"/>
          <p:nvPr/>
        </p:nvSpPr>
        <p:spPr>
          <a:xfrm>
            <a:off x="614057" y="6338714"/>
            <a:ext cx="6096000" cy="369332"/>
          </a:xfrm>
          <a:prstGeom prst="rect">
            <a:avLst/>
          </a:prstGeom>
          <a:noFill/>
        </p:spPr>
        <p:txBody>
          <a:bodyPr wrap="square">
            <a:spAutoFit/>
          </a:bodyPr>
          <a:lstStyle/>
          <a:p>
            <a:r>
              <a:rPr lang="en-US" dirty="0"/>
              <a:t>Operation performed (e.g., append, overwrite)</a:t>
            </a:r>
          </a:p>
        </p:txBody>
      </p:sp>
    </p:spTree>
    <p:extLst>
      <p:ext uri="{BB962C8B-B14F-4D97-AF65-F5344CB8AC3E}">
        <p14:creationId xmlns:p14="http://schemas.microsoft.com/office/powerpoint/2010/main" val="2317883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96676D-201D-3C13-7C72-901FA64CF8A8}"/>
              </a:ext>
            </a:extLst>
          </p:cNvPr>
          <p:cNvSpPr txBox="1"/>
          <p:nvPr/>
        </p:nvSpPr>
        <p:spPr>
          <a:xfrm>
            <a:off x="576364" y="1574687"/>
            <a:ext cx="10211610" cy="369332"/>
          </a:xfrm>
          <a:prstGeom prst="rect">
            <a:avLst/>
          </a:prstGeom>
          <a:noFill/>
        </p:spPr>
        <p:txBody>
          <a:bodyPr wrap="square">
            <a:spAutoFit/>
          </a:bodyPr>
          <a:lstStyle/>
          <a:p>
            <a:r>
              <a:rPr lang="en-US" b="0" i="0" dirty="0">
                <a:solidFill>
                  <a:srgbClr val="222222"/>
                </a:solidFill>
                <a:effectLst/>
                <a:highlight>
                  <a:srgbClr val="FFFFFF"/>
                </a:highlight>
                <a:latin typeface="Arial" panose="020B0604020202020204" pitchFamily="34" charset="0"/>
              </a:rPr>
              <a:t>Follow the below steps to create an external volume in Snowflake on Amazon S3</a:t>
            </a:r>
            <a:endParaRPr lang="en-US" dirty="0"/>
          </a:p>
        </p:txBody>
      </p:sp>
      <p:sp>
        <p:nvSpPr>
          <p:cNvPr id="5" name="TextBox 4">
            <a:extLst>
              <a:ext uri="{FF2B5EF4-FFF2-40B4-BE49-F238E27FC236}">
                <a16:creationId xmlns:a16="http://schemas.microsoft.com/office/drawing/2014/main" id="{F539EEEF-8966-CD56-6B17-58208154E964}"/>
              </a:ext>
            </a:extLst>
          </p:cNvPr>
          <p:cNvSpPr txBox="1"/>
          <p:nvPr/>
        </p:nvSpPr>
        <p:spPr>
          <a:xfrm>
            <a:off x="576364" y="2291982"/>
            <a:ext cx="10211609" cy="1754326"/>
          </a:xfrm>
          <a:prstGeom prst="rect">
            <a:avLst/>
          </a:prstGeom>
          <a:noFill/>
        </p:spPr>
        <p:txBody>
          <a:bodyPr wrap="square">
            <a:spAutoFit/>
          </a:bodyPr>
          <a:lstStyle/>
          <a:p>
            <a:r>
              <a:rPr lang="en-US" dirty="0"/>
              <a:t>STEP-1: Create an S3 Bucket in the same region of your Snowflake Account</a:t>
            </a:r>
          </a:p>
          <a:p>
            <a:r>
              <a:rPr lang="en-US" dirty="0"/>
              <a:t>STEP-2: IAM policy that grants access to your S3 location</a:t>
            </a:r>
          </a:p>
          <a:p>
            <a:r>
              <a:rPr lang="en-US" dirty="0"/>
              <a:t>STEP-3: Create an IAM role</a:t>
            </a:r>
          </a:p>
          <a:p>
            <a:r>
              <a:rPr lang="en-US" dirty="0"/>
              <a:t>STEP-4: Create an External Volume in Snowflake</a:t>
            </a:r>
          </a:p>
          <a:p>
            <a:r>
              <a:rPr lang="en-US" dirty="0"/>
              <a:t>STEP-5: Retrieve the AWS IAM User for your Snowflake Account</a:t>
            </a:r>
          </a:p>
          <a:p>
            <a:r>
              <a:rPr lang="en-US" dirty="0"/>
              <a:t>STEP-6: Grant the IAM user Permissions to Access Bucket Objects</a:t>
            </a:r>
          </a:p>
        </p:txBody>
      </p:sp>
      <p:graphicFrame>
        <p:nvGraphicFramePr>
          <p:cNvPr id="6" name="Object 5">
            <a:extLst>
              <a:ext uri="{FF2B5EF4-FFF2-40B4-BE49-F238E27FC236}">
                <a16:creationId xmlns:a16="http://schemas.microsoft.com/office/drawing/2014/main" id="{191018A4-8D9D-4F9E-02B4-A1B8D5E9FB5F}"/>
              </a:ext>
            </a:extLst>
          </p:cNvPr>
          <p:cNvGraphicFramePr>
            <a:graphicFrameLocks noChangeAspect="1"/>
          </p:cNvGraphicFramePr>
          <p:nvPr>
            <p:extLst>
              <p:ext uri="{D42A27DB-BD31-4B8C-83A1-F6EECF244321}">
                <p14:modId xmlns:p14="http://schemas.microsoft.com/office/powerpoint/2010/main" val="3889435725"/>
              </p:ext>
            </p:extLst>
          </p:nvPr>
        </p:nvGraphicFramePr>
        <p:xfrm>
          <a:off x="1397540" y="4742234"/>
          <a:ext cx="914400" cy="792163"/>
        </p:xfrm>
        <a:graphic>
          <a:graphicData uri="http://schemas.openxmlformats.org/presentationml/2006/ole">
            <mc:AlternateContent xmlns:mc="http://schemas.openxmlformats.org/markup-compatibility/2006">
              <mc:Choice xmlns:v="urn:schemas-microsoft-com:vml" Requires="v">
                <p:oleObj name="Document" showAsIcon="1" r:id="rId2" imgW="914282" imgH="792515" progId="Word.Document.12">
                  <p:embed/>
                </p:oleObj>
              </mc:Choice>
              <mc:Fallback>
                <p:oleObj name="Document" showAsIcon="1" r:id="rId2" imgW="914282" imgH="792515" progId="Word.Document.12">
                  <p:embed/>
                  <p:pic>
                    <p:nvPicPr>
                      <p:cNvPr id="0" name=""/>
                      <p:cNvPicPr/>
                      <p:nvPr/>
                    </p:nvPicPr>
                    <p:blipFill>
                      <a:blip r:embed="rId3"/>
                      <a:stretch>
                        <a:fillRect/>
                      </a:stretch>
                    </p:blipFill>
                    <p:spPr>
                      <a:xfrm>
                        <a:off x="1397540" y="4742234"/>
                        <a:ext cx="914400" cy="792163"/>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87D4EA13-AE3E-0713-AD60-03428CE21292}"/>
              </a:ext>
            </a:extLst>
          </p:cNvPr>
          <p:cNvSpPr txBox="1"/>
          <p:nvPr/>
        </p:nvSpPr>
        <p:spPr>
          <a:xfrm>
            <a:off x="3222287" y="694095"/>
            <a:ext cx="6094378" cy="369332"/>
          </a:xfrm>
          <a:prstGeom prst="rect">
            <a:avLst/>
          </a:prstGeom>
          <a:noFill/>
        </p:spPr>
        <p:txBody>
          <a:bodyPr wrap="square">
            <a:spAutoFit/>
          </a:bodyPr>
          <a:lstStyle/>
          <a:p>
            <a:pPr lvl="0"/>
            <a:r>
              <a:rPr lang="en-US" b="1" dirty="0"/>
              <a:t>Snowflake as the Iceberg catalog</a:t>
            </a:r>
          </a:p>
        </p:txBody>
      </p:sp>
    </p:spTree>
    <p:extLst>
      <p:ext uri="{BB962C8B-B14F-4D97-AF65-F5344CB8AC3E}">
        <p14:creationId xmlns:p14="http://schemas.microsoft.com/office/powerpoint/2010/main" val="3717283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A9C14F-1007-55DE-4BC3-8631971CBB2C}"/>
              </a:ext>
            </a:extLst>
          </p:cNvPr>
          <p:cNvPicPr>
            <a:picLocks noChangeAspect="1"/>
          </p:cNvPicPr>
          <p:nvPr/>
        </p:nvPicPr>
        <p:blipFill>
          <a:blip r:embed="rId2"/>
          <a:stretch>
            <a:fillRect/>
          </a:stretch>
        </p:blipFill>
        <p:spPr>
          <a:xfrm>
            <a:off x="722336" y="1187635"/>
            <a:ext cx="5834352" cy="3943165"/>
          </a:xfrm>
          <a:prstGeom prst="rect">
            <a:avLst/>
          </a:prstGeom>
        </p:spPr>
      </p:pic>
      <p:pic>
        <p:nvPicPr>
          <p:cNvPr id="5" name="Picture 4">
            <a:extLst>
              <a:ext uri="{FF2B5EF4-FFF2-40B4-BE49-F238E27FC236}">
                <a16:creationId xmlns:a16="http://schemas.microsoft.com/office/drawing/2014/main" id="{23F78326-BD3E-1D68-AFCE-2B5980DF7789}"/>
              </a:ext>
            </a:extLst>
          </p:cNvPr>
          <p:cNvPicPr>
            <a:picLocks noChangeAspect="1"/>
          </p:cNvPicPr>
          <p:nvPr/>
        </p:nvPicPr>
        <p:blipFill>
          <a:blip r:embed="rId3"/>
          <a:stretch>
            <a:fillRect/>
          </a:stretch>
        </p:blipFill>
        <p:spPr>
          <a:xfrm>
            <a:off x="5223561" y="1771418"/>
            <a:ext cx="5334744" cy="3315163"/>
          </a:xfrm>
          <a:prstGeom prst="rect">
            <a:avLst/>
          </a:prstGeom>
        </p:spPr>
      </p:pic>
    </p:spTree>
    <p:extLst>
      <p:ext uri="{BB962C8B-B14F-4D97-AF65-F5344CB8AC3E}">
        <p14:creationId xmlns:p14="http://schemas.microsoft.com/office/powerpoint/2010/main" val="3959676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779</TotalTime>
  <Words>1191</Words>
  <Application>Microsoft Office PowerPoint</Application>
  <PresentationFormat>Widescreen</PresentationFormat>
  <Paragraphs>81</Paragraphs>
  <Slides>11</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1" baseType="lpstr">
      <vt:lpstr>Aptos</vt:lpstr>
      <vt:lpstr>Aptos Display</vt:lpstr>
      <vt:lpstr>Arial</vt:lpstr>
      <vt:lpstr>Helvetica</vt:lpstr>
      <vt:lpstr>Inter</vt:lpstr>
      <vt:lpstr>sohne</vt:lpstr>
      <vt:lpstr>Symbol</vt:lpstr>
      <vt:lpstr>Times New Roman</vt:lpstr>
      <vt:lpstr>Office Theme</vt:lpstr>
      <vt:lpstr>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Sachin Mittal</dc:creator>
  <cp:lastModifiedBy>Sachin Mittal</cp:lastModifiedBy>
  <cp:revision>19</cp:revision>
  <dcterms:created xsi:type="dcterms:W3CDTF">2024-07-22T06:22:03Z</dcterms:created>
  <dcterms:modified xsi:type="dcterms:W3CDTF">2025-07-26T17:22:47Z</dcterms:modified>
</cp:coreProperties>
</file>